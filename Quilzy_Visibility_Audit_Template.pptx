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146304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0C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180015" y="3108960"/>
            <a:ext cx="2926080" cy="2926080"/>
          </a:xfrm>
          <a:prstGeom prst="ellipse">
            <a:avLst/>
          </a:prstGeom>
          <a:solidFill>
            <a:srgbClr val="0F355C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· GEO · AI-CITATION · BACKLINK AUDIT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8595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OnArrival</a:t>
            </a:r>
            <a:pPr indent="0" marL="0">
              <a:lnSpc>
                <a:spcPct val="98000"/>
              </a:lnSpc>
              <a:buNone/>
            </a:pPr>
            <a:endParaRPr lang="en-US" sz="5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 Audit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66928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onarrival.com   ·   Prepared by Quilzy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4800600"/>
            <a:ext cx="1664208" cy="310896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80060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32304" y="4800600"/>
            <a:ext cx="1376172" cy="310896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10" name="Text 8"/>
          <p:cNvSpPr/>
          <p:nvPr/>
        </p:nvSpPr>
        <p:spPr>
          <a:xfrm>
            <a:off x="2432304" y="4800600"/>
            <a:ext cx="13761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09644" y="4800600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12" name="Text 10"/>
          <p:cNvSpPr/>
          <p:nvPr/>
        </p:nvSpPr>
        <p:spPr>
          <a:xfrm>
            <a:off x="4009644" y="4800600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06924" y="480060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14" name="Text 12"/>
          <p:cNvSpPr/>
          <p:nvPr/>
        </p:nvSpPr>
        <p:spPr>
          <a:xfrm>
            <a:off x="5106924" y="48006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July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38367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is evidenced and independently verifiable.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this report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fact-based audit, not a sales flyer. Every finding carries a confidence label and a one-line way to check it yourself. No invented numbers.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2558720" cy="246888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24912"/>
            <a:ext cx="310896" cy="3108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1225296" y="2706624"/>
            <a:ext cx="182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046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observed it directly on the live page or search result. Quote or screenshot provided.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99968" y="2468880"/>
            <a:ext cx="2558720" cy="246888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6000" y="2724912"/>
            <a:ext cx="310896" cy="3108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4058336" y="2706624"/>
            <a:ext cx="182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56000" y="3291840"/>
            <a:ext cx="2046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against competitors, drawn from a named public source.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33008" y="2468880"/>
            <a:ext cx="2558720" cy="246888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89040" y="2724912"/>
            <a:ext cx="310896" cy="3108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6891376" y="2706624"/>
            <a:ext cx="182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89040" y="3291840"/>
            <a:ext cx="2046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Directional; method stated. Confirm with the named live tool.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66047" y="2468880"/>
            <a:ext cx="2558720" cy="246888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22079" y="2724912"/>
            <a:ext cx="310896" cy="31089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9" name="Text 17"/>
          <p:cNvSpPr/>
          <p:nvPr/>
        </p:nvSpPr>
        <p:spPr>
          <a:xfrm>
            <a:off x="9724415" y="2706624"/>
            <a:ext cx="182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322079" y="3291840"/>
            <a:ext cx="2046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professional opinion or proposed fix.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521208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this pass: live page fetch, Google search (site: + category queries), public company databases. ESTIMATED items are confirmed with a live crawler / Ahrefs in a follow-up.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OnArrival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STAND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 scorecard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558720" cy="2743200"/>
          </a:xfrm>
          <a:prstGeom prst="roundRect">
            <a:avLst>
              <a:gd name="adj" fmla="val 3216"/>
            </a:avLst>
          </a:prstGeom>
          <a:solidFill>
            <a:srgbClr val="0B1220"/>
          </a:solidFill>
          <a:ln/>
          <a:effectLst>
            <a:outerShdw sx="100000" sy="100000" kx="0" ky="0" algn="bl" rotWithShape="0" blurRad="88900" dist="38100" dir="5400000">
              <a:srgbClr val="9FB0C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2084832"/>
            <a:ext cx="210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8096" y="2514600"/>
            <a:ext cx="219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pPr indent="0" marL="0">
              <a:buNone/>
            </a:pPr>
            <a:r>
              <a:rPr lang="en-US" sz="1800" dirty="0">
                <a:solidFill>
                  <a:srgbClr val="9F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/100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95528" y="3703320"/>
            <a:ext cx="210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is good. Execution is unfinished.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99968" y="1874520"/>
            <a:ext cx="2558720" cy="2743200"/>
          </a:xfrm>
          <a:prstGeom prst="roundRect">
            <a:avLst>
              <a:gd name="adj" fmla="val 321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9FB0C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28568" y="2084832"/>
            <a:ext cx="210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01136" y="2514600"/>
            <a:ext cx="219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/100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3628568" y="3703320"/>
            <a:ext cx="210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par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3008" y="1874520"/>
            <a:ext cx="2558720" cy="2743200"/>
          </a:xfrm>
          <a:prstGeom prst="roundRect">
            <a:avLst>
              <a:gd name="adj" fmla="val 321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9FB0C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61608" y="2084832"/>
            <a:ext cx="210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34176" y="2514600"/>
            <a:ext cx="219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/100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6461608" y="3703320"/>
            <a:ext cx="210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Brand-only visibility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66047" y="1874520"/>
            <a:ext cx="2558720" cy="2743200"/>
          </a:xfrm>
          <a:prstGeom prst="roundRect">
            <a:avLst>
              <a:gd name="adj" fmla="val 321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9FB0C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94647" y="2084832"/>
            <a:ext cx="210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267215" y="2514600"/>
            <a:ext cx="219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/100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9294647" y="3703320"/>
            <a:ext cx="210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Thin, early-stage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49377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across performance, technical, on-page, content, schema (SEO); category visibility, brand richness, source quality, accuracy, share-of-voice, entity schema (GEO).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OnArrival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IN ONE 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371600"/>
            <a:ext cx="110578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OnArrival already has the hard-to-build assets — real enterprise customers, funding, a Skift feature. What it lacks is a finished, machine-readable content engine. That is why it is invisible where buyers actually search.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37947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it is a content-and-schema problem, not a rebuild — which means fast wins are available.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WORKING — KEEP THESE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5074920"/>
            <a:ext cx="2607869" cy="310896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5074920"/>
            <a:ext cx="26078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meta descriptions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75965" y="5074920"/>
            <a:ext cx="2159813" cy="310896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9" name="Text 7"/>
          <p:cNvSpPr/>
          <p:nvPr/>
        </p:nvSpPr>
        <p:spPr>
          <a:xfrm>
            <a:off x="3375965" y="5074920"/>
            <a:ext cx="21598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URL structure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36946" y="5074920"/>
            <a:ext cx="4400093" cy="310896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11" name="Text 9"/>
          <p:cNvSpPr/>
          <p:nvPr/>
        </p:nvSpPr>
        <p:spPr>
          <a:xfrm>
            <a:off x="5736946" y="5074920"/>
            <a:ext cx="440009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brand footprint (Skift, Crunchbase)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OnArrival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YOU CAN CHECK YOURSELF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findings you can verify in 60 seconds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503066" cy="370332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B8C4D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84832"/>
            <a:ext cx="566928" cy="566928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652674" y="21945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652674" y="21945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91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Placeholder / Lorem-ipsum on live pages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299100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/solutions/core-travel/flights — “dummy text… dabore et dolore” repeats 3×.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4314" y="1828800"/>
            <a:ext cx="3503066" cy="370332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B8C4D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00346" y="2084832"/>
            <a:ext cx="566928" cy="566928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3" name="Text 11"/>
          <p:cNvSpPr/>
          <p:nvPr/>
        </p:nvSpPr>
        <p:spPr>
          <a:xfrm>
            <a:off x="4600346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30061" y="21945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6430061" y="21945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00346" y="2834640"/>
            <a:ext cx="2991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Dummy testimonials on real named CEOs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00346" y="3703320"/>
            <a:ext cx="299100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“Fully integrated suite of travel prducts…” credited to Cleartrip &amp; Niyo CEOs.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21701" y="1828800"/>
            <a:ext cx="3503066" cy="370332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B8C4D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77733" y="2084832"/>
            <a:ext cx="566928" cy="566928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20" name="Text 18"/>
          <p:cNvSpPr/>
          <p:nvPr/>
        </p:nvSpPr>
        <p:spPr>
          <a:xfrm>
            <a:off x="8377733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0207447" y="21945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10207447" y="21945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77733" y="2834640"/>
            <a:ext cx="2991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 template pages still indexed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77733" y="3703320"/>
            <a:ext cx="299100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site:onarrival.com → /detroit, /app/favorites, /old-home-3, /checkout.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OnArrival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/ AI-CITATION  ·  37/100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names your competitors — not you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371600"/>
                <a:gridCol w="4023360"/>
                <a:gridCol w="1371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prompt (re-run to verify)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OnArrival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AI names instead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“best embedded travel API platform”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Duffel, Nuitée, Amadeus, Bridgify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“travel API for flights &amp; hotels (OTA)”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Amadeus, Duffel, Travelopro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“tell me about OnArrival travel”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“OnArrival funding investors”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343400"/>
            <a:ext cx="11057839" cy="1051560"/>
          </a:xfrm>
          <a:prstGeom prst="roundRect">
            <a:avLst>
              <a:gd name="adj" fmla="val 6957"/>
            </a:avLst>
          </a:prstGeom>
          <a:solidFill>
            <a:srgbClr val="CFFAF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4343400"/>
            <a:ext cx="1050919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costs: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category query where a competitor is named and you are not is a buyer building a shortlist you never make — lost impressions at the exact moment a purchase decision begins.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OnArrival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43/100  ·  BACKLINKS 35/100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holding your pages back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57839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3840480"/>
                <a:gridCol w="868680"/>
                <a:gridCol w="18745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it's costing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Placeholder copy on live pages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pages thin &amp; uncitable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pages polluting the index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Google/AI describe wrong product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JSON-LD structured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rich results; weak AI entity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blog / docs / category content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the pages that win traffic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titles + no sitemap served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relevance; slow indexing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892040"/>
            <a:ext cx="11057839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4892040"/>
            <a:ext cx="105091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Backlinks: credible but thin (Skift, Crunchbase, investor pages) and absent from the “best travel API” comparison pages that rank in Google AND feed AI answers — the highest-leverage gap.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OnArrival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QUILZY FIXES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found on every surface buyers search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536192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 is a discoverability platform: one hosted blog on your own domain that gets your content found everywhere people search.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2558720" cy="3063240"/>
          </a:xfrm>
          <a:prstGeom prst="roundRect">
            <a:avLst>
              <a:gd name="adj" fmla="val 321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42032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04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engines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2046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on Google &amp; Bing — technical SEO built into every page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99968" y="2286000"/>
            <a:ext cx="2558720" cy="3063240"/>
          </a:xfrm>
          <a:prstGeom prst="roundRect">
            <a:avLst>
              <a:gd name="adj" fmla="val 3216"/>
            </a:avLst>
          </a:prstGeom>
          <a:solidFill>
            <a:srgbClr val="0B1220"/>
          </a:solidFill>
          <a:ln/>
          <a:effectLst>
            <a:outerShdw sx="100000" sy="100000" kx="0" ky="0" algn="bl" rotWithShape="0" blurRad="76200" dist="25400" dir="5400000">
              <a:srgbClr val="B8C4D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6000" y="2542032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365600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6000" y="3154680"/>
            <a:ext cx="204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answers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56000" y="3840480"/>
            <a:ext cx="2046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citable by ChatGPT, Claude &amp; Perplexity — named where buyers ask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33008" y="2286000"/>
            <a:ext cx="2558720" cy="3063240"/>
          </a:xfrm>
          <a:prstGeom prst="roundRect">
            <a:avLst>
              <a:gd name="adj" fmla="val 321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89040" y="2542032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8904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89040" y="3154680"/>
            <a:ext cx="204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News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89040" y="3840480"/>
            <a:ext cx="2046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as a newsroom for News &amp; Top Stories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66047" y="2286000"/>
            <a:ext cx="2558720" cy="3063240"/>
          </a:xfrm>
          <a:prstGeom prst="roundRect">
            <a:avLst>
              <a:gd name="adj" fmla="val 321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22079" y="2542032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2" name="Text 20"/>
          <p:cNvSpPr/>
          <p:nvPr/>
        </p:nvSpPr>
        <p:spPr>
          <a:xfrm>
            <a:off x="9322079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22079" y="3154680"/>
            <a:ext cx="204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322079" y="3840480"/>
            <a:ext cx="2046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Auto-repurpose every post to your social channels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553212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hosted blog on your own domain — not four tools, not a subdomain you don't own.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OnArrival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Quilzy turns fixes into impressions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120640"/>
                <a:gridCol w="292608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Quilzy does automatically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Impression surface it opens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blog / category content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Hosted blog + newsroom on your domain; AI agents draft search-first posts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&amp; Bing organic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Invisible on AI category queries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AI-search-readable structure + JSON-LD so ChatGPT/Claude/Perplexity can cite you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answers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structured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JSON-LD schema on every post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 results + AI entity clarity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/ weak indexing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IndexNow instant indexing + auto sitemaps + internal links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Faster, fuller indexation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news / PR surface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News-ready newsroom (schema, RSS, sitemaps)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News &amp; Top Stories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/ CWV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90+ Lighthouse, &lt;1s first paint, global CDN — built 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 factor on all four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promise: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 doesn't promise a rank. It removes every technical reason a page fails to get found, then reports impressions + AI-citation share as the headline metrics.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OnArrival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Quilzy, not another plugin or agency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every surface people search — done for you, on your own domain.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57400"/>
          <a:ext cx="11057839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97680"/>
                <a:gridCol w="4297680"/>
              </a:tblGrid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7D6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usual 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Quilzy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SEO / GEO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25+ plugins to install, update &amp; secure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 — schema, sitemaps, indexing, links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Indexing speed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days for a crawler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IndexNow pings engines the moment you publish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+ News surfaces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setup most teams never 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AI-search-ready + Google News schema, automatic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Inconsistent; stalls without a team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agents draft search-first posts on cadence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Plugins slow the site down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90+ Lighthouse, &lt;1s paint, global CDN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Ownership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Rented equity on a third-party subdomain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Hosted on your own domain — you keep the equity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OnArrival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COMPOUNDS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Sheetwa</a:t>
            </a:r>
            <a:pPr indent="0" marL="0">
              <a:buNone/>
            </a:pPr>
            <a:r>
              <a:rPr lang="en-US" sz="3000" b="1" dirty="0">
                <a:solidFill>
                  <a:srgbClr val="9F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one Quilzy content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5346040" cy="2286000"/>
          </a:xfrm>
          <a:prstGeom prst="roundRect">
            <a:avLst>
              <a:gd name="adj" fmla="val 4800"/>
            </a:avLst>
          </a:prstGeom>
          <a:solidFill>
            <a:srgbClr val="0C2A4A"/>
          </a:solidFill>
          <a:ln w="12700">
            <a:solidFill>
              <a:srgbClr val="1745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468880"/>
            <a:ext cx="479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3M+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886968" y="3703320"/>
            <a:ext cx="470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AI-ENGINE IMPRESSIONS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78728" y="2286000"/>
            <a:ext cx="5346040" cy="2286000"/>
          </a:xfrm>
          <a:prstGeom prst="roundRect">
            <a:avLst>
              <a:gd name="adj" fmla="val 4800"/>
            </a:avLst>
          </a:prstGeom>
          <a:solidFill>
            <a:srgbClr val="0C2A4A"/>
          </a:solidFill>
          <a:ln w="12700">
            <a:solidFill>
              <a:srgbClr val="1745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3048" y="2468880"/>
            <a:ext cx="479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4M+</a:t>
            </a:r>
            <a:endParaRPr lang="en-US" sz="8400" dirty="0"/>
          </a:p>
        </p:txBody>
      </p:sp>
      <p:sp>
        <p:nvSpPr>
          <p:cNvPr id="9" name="Text 7"/>
          <p:cNvSpPr/>
          <p:nvPr/>
        </p:nvSpPr>
        <p:spPr>
          <a:xfrm>
            <a:off x="6598768" y="3703320"/>
            <a:ext cx="470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IMPRESSIONS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489204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Quilzy-hosted content engine — compounding impressions across Google and AI answers, from a single blog on the client's own domain.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" y="5623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result per Quilzy reporting.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OnArrival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SCOPE KEEPS IT CREDIBLE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Quilzy owns vs. what stays your side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46040" cy="3566160"/>
          </a:xfrm>
          <a:prstGeom prst="roundRect">
            <a:avLst>
              <a:gd name="adj" fmla="val 2308"/>
            </a:avLst>
          </a:prstGeom>
          <a:solidFill>
            <a:srgbClr val="CFFAFE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057400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 OWNS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395728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content &amp; discoverability engine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2926080"/>
            <a:ext cx="4705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blog + newsroom on your domain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SEO/GEO on every post (schema, indexing)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News eligibility + AI-search readiness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repurposing + consistent publishing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8728" y="1828800"/>
            <a:ext cx="5346040" cy="3566160"/>
          </a:xfrm>
          <a:prstGeom prst="roundRect">
            <a:avLst>
              <a:gd name="adj" fmla="val 2308"/>
            </a:avLst>
          </a:prstGeom>
          <a:solidFill>
            <a:srgbClr val="F1F5F9"/>
          </a:solidFill>
          <a:ln w="15875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3048" y="2057400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YOUR SIDE — WE FLAG, NOT HIDE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53048" y="2395728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site-hygiene fixes (the P0s)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98768" y="2926080"/>
            <a:ext cx="4705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placeholder copy on the Webflow site (P0)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 / redirect legacy indexed pages (P0)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dead demo CTAs on the main site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OnArrival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188720"/>
            <a:ext cx="3657600" cy="3657600"/>
          </a:xfrm>
          <a:prstGeom prst="ellipse">
            <a:avLst/>
          </a:prstGeom>
          <a:solidFill>
            <a:srgbClr val="0C2A4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NEXT STEP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9448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surface open in real time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2743200"/>
            <a:ext cx="92656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7-day Quilzy trial on your /blog — we stand up 3–5 category posts targeting the exact queries where you are invisible today, then baseline impressions + AI-citation share so you watch the surface open in real time.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484632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8463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7-day Quilzy trial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67328" y="4846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quilzy.com   ·   Free for 7 days · No credit card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OnArrival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USE — REUSE THIS DECK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 guide: swap these for the next client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88366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name &amp; domain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+ section headers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633472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68833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scores + verdict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438144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34930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statement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slide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242816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4297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verify-in-60s findings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slide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5047488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51023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prompts + who wins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matrix (hero)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6208" y="1828800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188366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+ backlink diagnosis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“Holding you back” slide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36208" y="2633472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268833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stats (client + impressions)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slide — swap per pitch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36208" y="3438144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34930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 outcome / how / differentiator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as-is — rarely changes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36208" y="4242816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4297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lists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slide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6208" y="5047488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64808" y="51023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Next-step CTA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slide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59893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edit the CONFIG block (or replace text in place), keep the confidence labels honest, and re-run the audit before each pitch so every claim stays verifiable.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OnArrival  ·  14 July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2026-07-14T12:18:32Z</dcterms:created>
  <dcterms:modified xsi:type="dcterms:W3CDTF">2026-07-14T12:18:32Z</dcterms:modified>
</cp:coreProperties>
</file>