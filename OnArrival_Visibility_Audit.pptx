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dS71TukjbDleEYSVqgHERCoSq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CE7DAE-36BF-40FC-BB4E-594919E518EC}">
  <a:tblStyle styleId="{12CE7DAE-36BF-40FC-BB4E-594919E518E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Organic traffic</c:v>
                </c:pt>
              </c:strCache>
            </c:strRef>
          </c:tx>
          <c:spPr>
            <a:solidFill>
              <a:srgbClr val="06B6D4">
                <a:alpha val="3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</c:v>
                </c:pt>
                <c:pt idx="1">
                  <c:v>54</c:v>
                </c:pt>
                <c:pt idx="2">
                  <c:v>60</c:v>
                </c:pt>
                <c:pt idx="3">
                  <c:v>49</c:v>
                </c:pt>
                <c:pt idx="4">
                  <c:v>71</c:v>
                </c:pt>
                <c:pt idx="5">
                  <c:v>61</c:v>
                </c:pt>
                <c:pt idx="6">
                  <c:v>57</c:v>
                </c:pt>
                <c:pt idx="7">
                  <c:v>86</c:v>
                </c:pt>
                <c:pt idx="8">
                  <c:v>93</c:v>
                </c:pt>
                <c:pt idx="9">
                  <c:v>54</c:v>
                </c:pt>
                <c:pt idx="10">
                  <c:v>13</c:v>
                </c:pt>
                <c:pt idx="11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">
  <p:cSld name="BASE"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/>
          <p:nvPr/>
        </p:nvSpPr>
        <p:spPr>
          <a:xfrm>
            <a:off x="9082735" y="-1463040"/>
            <a:ext cx="4206240" cy="4206240"/>
          </a:xfrm>
          <a:prstGeom prst="roundRect">
            <a:avLst>
              <a:gd fmla="val 8696" name="adj"/>
            </a:avLst>
          </a:prstGeom>
          <a:solidFill>
            <a:srgbClr val="0C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0180015" y="3108960"/>
            <a:ext cx="2926080" cy="2926080"/>
          </a:xfrm>
          <a:prstGeom prst="ellipse">
            <a:avLst/>
          </a:prstGeom>
          <a:solidFill>
            <a:srgbClr val="0F35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66928" y="1371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SEO · GEO · AI-CITATION · BACKLINK AUDIT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66928" y="1828800"/>
            <a:ext cx="85953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OnArrival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06B6D4"/>
                </a:solidFill>
                <a:latin typeface="Cambria"/>
                <a:ea typeface="Cambria"/>
                <a:cs typeface="Cambria"/>
                <a:sym typeface="Cambria"/>
              </a:rPr>
              <a:t>Visibility Audit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66928" y="39776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6E6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7D6E6"/>
                </a:solidFill>
                <a:latin typeface="Calibri"/>
                <a:ea typeface="Calibri"/>
                <a:cs typeface="Calibri"/>
                <a:sym typeface="Calibri"/>
              </a:rPr>
              <a:t>onarrival.com   ·   Prepared by Quilzy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66928" y="4800600"/>
            <a:ext cx="1664208" cy="310896"/>
          </a:xfrm>
          <a:prstGeom prst="roundRect">
            <a:avLst>
              <a:gd fmla="val 50000" name="adj"/>
            </a:avLst>
          </a:prstGeom>
          <a:solidFill>
            <a:srgbClr val="1231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566928" y="4800600"/>
            <a:ext cx="166420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Search engines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432304" y="4800600"/>
            <a:ext cx="1376172" cy="310896"/>
          </a:xfrm>
          <a:prstGeom prst="roundRect">
            <a:avLst>
              <a:gd fmla="val 50000" name="adj"/>
            </a:avLst>
          </a:prstGeom>
          <a:solidFill>
            <a:srgbClr val="1231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432304" y="4800600"/>
            <a:ext cx="13761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Google News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009644" y="4800600"/>
            <a:ext cx="896112" cy="310896"/>
          </a:xfrm>
          <a:prstGeom prst="roundRect">
            <a:avLst>
              <a:gd fmla="val 50000" name="adj"/>
            </a:avLst>
          </a:prstGeom>
          <a:solidFill>
            <a:srgbClr val="1231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4009644" y="4800600"/>
            <a:ext cx="8961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Social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106924" y="4800600"/>
            <a:ext cx="1280160" cy="310896"/>
          </a:xfrm>
          <a:prstGeom prst="roundRect">
            <a:avLst>
              <a:gd fmla="val 50000" name="adj"/>
            </a:avLst>
          </a:prstGeom>
          <a:solidFill>
            <a:srgbClr val="1231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5106924" y="4800600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AI answers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66928" y="59893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A0B4"/>
                </a:solidFill>
                <a:latin typeface="Calibri"/>
                <a:ea typeface="Calibri"/>
                <a:cs typeface="Calibri"/>
                <a:sym typeface="Calibri"/>
              </a:rPr>
              <a:t>14 July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138367" y="59893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0B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AA0B4"/>
                </a:solidFill>
                <a:latin typeface="Calibri"/>
                <a:ea typeface="Calibri"/>
                <a:cs typeface="Calibri"/>
                <a:sym typeface="Calibri"/>
              </a:rPr>
              <a:t>Every finding is evidenced and independently verifiable.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CREDIBILITY FIRST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How to read this report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66928" y="1554480"/>
            <a:ext cx="110578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fact-based audit, not a sales flyer. Every finding carries a confidence label and a one-line way to check it yourself. No invented numbers.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66928" y="2468880"/>
            <a:ext cx="2558720" cy="2468880"/>
          </a:xfrm>
          <a:prstGeom prst="roundRect">
            <a:avLst>
              <a:gd fmla="val 2963" name="adj"/>
            </a:avLst>
          </a:prstGeom>
          <a:solidFill>
            <a:srgbClr val="F1F5F9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8C4D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822960" y="2724912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1225296" y="2706624"/>
            <a:ext cx="182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MEASURED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22960" y="3291840"/>
            <a:ext cx="204665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We observed it directly on the live page or search result. Quote or screenshot provided.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399968" y="2468880"/>
            <a:ext cx="2558720" cy="2468880"/>
          </a:xfrm>
          <a:prstGeom prst="roundRect">
            <a:avLst>
              <a:gd fmla="val 2963" name="adj"/>
            </a:avLst>
          </a:prstGeom>
          <a:solidFill>
            <a:srgbClr val="F1F5F9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8C4D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3656000" y="2724912"/>
            <a:ext cx="310896" cy="310896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058336" y="2706624"/>
            <a:ext cx="182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BENCHMARK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656000" y="3291840"/>
            <a:ext cx="204665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Comparison against competitors, drawn from a named public source.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233008" y="2468880"/>
            <a:ext cx="2558720" cy="2468880"/>
          </a:xfrm>
          <a:prstGeom prst="roundRect">
            <a:avLst>
              <a:gd fmla="val 2963" name="adj"/>
            </a:avLst>
          </a:prstGeom>
          <a:solidFill>
            <a:srgbClr val="F1F5F9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8C4D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6489040" y="2724912"/>
            <a:ext cx="310896" cy="310896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6891376" y="2706624"/>
            <a:ext cx="182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ESTIMATED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489040" y="3291840"/>
            <a:ext cx="204665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Directional; method stated. Confirm with the named live tool.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9066047" y="2468880"/>
            <a:ext cx="2558720" cy="2468880"/>
          </a:xfrm>
          <a:prstGeom prst="roundRect">
            <a:avLst>
              <a:gd fmla="val 2963" name="adj"/>
            </a:avLst>
          </a:prstGeom>
          <a:solidFill>
            <a:srgbClr val="F1F5F9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8C4D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9322079" y="2724912"/>
            <a:ext cx="310896" cy="310896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9724415" y="2706624"/>
            <a:ext cx="182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RECOMMENDATION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9322079" y="3291840"/>
            <a:ext cx="204665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Our professional opinion or proposed fix.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66928" y="5212080"/>
            <a:ext cx="110578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Tools this pass: live page fetch, Google search (site: + category queries), public company databases. ESTIMATED items are confirmed with a live crawler / Ahrefs in a follow-up.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Quilzy</a:t>
            </a: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·   SEO/GEO Visibility Audit   ·   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OnArrival  ·  14 July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WHERE YOU STAND TODAY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Visibility scorecard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66928" y="1874520"/>
            <a:ext cx="2558720" cy="2743200"/>
          </a:xfrm>
          <a:prstGeom prst="roundRect">
            <a:avLst>
              <a:gd fmla="val 3216" name="adj"/>
            </a:avLst>
          </a:prstGeom>
          <a:solidFill>
            <a:srgbClr val="0B1220"/>
          </a:solidFill>
          <a:ln>
            <a:noFill/>
          </a:ln>
          <a:effectLst>
            <a:outerShdw blurRad="88900" rotWithShape="0" algn="bl" dir="5400000" dist="38100">
              <a:srgbClr val="9FB0C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795528" y="2084832"/>
            <a:ext cx="210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OVERALL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68096" y="2514600"/>
            <a:ext cx="2192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40</a:t>
            </a:r>
            <a:r>
              <a:rPr b="0" i="0" lang="en-US" sz="1800" u="none" cap="none" strike="noStrike">
                <a:solidFill>
                  <a:srgbClr val="9FB8CF"/>
                </a:solidFill>
                <a:latin typeface="Cambria"/>
                <a:ea typeface="Cambria"/>
                <a:cs typeface="Cambria"/>
                <a:sym typeface="Cambria"/>
              </a:rPr>
              <a:t> /100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795528" y="3703320"/>
            <a:ext cx="2101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Foundation is good. Execution is unfinished — and traffic has already fallen.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399968" y="1874520"/>
            <a:ext cx="2558720" cy="2743200"/>
          </a:xfrm>
          <a:prstGeom prst="roundRect">
            <a:avLst>
              <a:gd fmla="val 3216" name="adj"/>
            </a:avLst>
          </a:prstGeom>
          <a:solidFill>
            <a:srgbClr val="F1F5F9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0C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3628568" y="2084832"/>
            <a:ext cx="210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SEO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601136" y="2514600"/>
            <a:ext cx="2192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43</a:t>
            </a:r>
            <a:r>
              <a:rPr b="0" i="0" lang="en-US" sz="1800" u="none" cap="none" strike="noStrike">
                <a:solidFill>
                  <a:srgbClr val="64748B"/>
                </a:solidFill>
                <a:latin typeface="Cambria"/>
                <a:ea typeface="Cambria"/>
                <a:cs typeface="Cambria"/>
                <a:sym typeface="Cambria"/>
              </a:rPr>
              <a:t> /100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628568" y="3703320"/>
            <a:ext cx="2101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Below par · AS 16 · 67 keywords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233008" y="1874520"/>
            <a:ext cx="2558720" cy="2743200"/>
          </a:xfrm>
          <a:prstGeom prst="roundRect">
            <a:avLst>
              <a:gd fmla="val 3216" name="adj"/>
            </a:avLst>
          </a:prstGeom>
          <a:solidFill>
            <a:srgbClr val="F1F5F9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0C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6461608" y="2084832"/>
            <a:ext cx="210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GEO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434176" y="2514600"/>
            <a:ext cx="2192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37</a:t>
            </a:r>
            <a:r>
              <a:rPr b="0" i="0" lang="en-US" sz="1800" u="none" cap="none" strike="noStrike">
                <a:solidFill>
                  <a:srgbClr val="64748B"/>
                </a:solidFill>
                <a:latin typeface="Cambria"/>
                <a:ea typeface="Cambria"/>
                <a:cs typeface="Cambria"/>
                <a:sym typeface="Cambria"/>
              </a:rPr>
              <a:t> /100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461608" y="3703320"/>
            <a:ext cx="2101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Brand-only · ChatGPT cites 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9066047" y="1874520"/>
            <a:ext cx="2558720" cy="2743200"/>
          </a:xfrm>
          <a:prstGeom prst="roundRect">
            <a:avLst>
              <a:gd fmla="val 3216" name="adj"/>
            </a:avLst>
          </a:prstGeom>
          <a:solidFill>
            <a:srgbClr val="F1F5F9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9FB0C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9294647" y="2084832"/>
            <a:ext cx="210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BACKLINKS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9267215" y="2514600"/>
            <a:ext cx="2192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35</a:t>
            </a:r>
            <a:r>
              <a:rPr b="0" i="0" lang="en-US" sz="1800" u="none" cap="none" strike="noStrike">
                <a:solidFill>
                  <a:srgbClr val="64748B"/>
                </a:solidFill>
                <a:latin typeface="Cambria"/>
                <a:ea typeface="Cambria"/>
                <a:cs typeface="Cambria"/>
                <a:sym typeface="Cambria"/>
              </a:rPr>
              <a:t> /100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9294647" y="3703320"/>
            <a:ext cx="2101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Low authority · 598 links, AS 16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66928" y="4892040"/>
            <a:ext cx="11057839" cy="658368"/>
          </a:xfrm>
          <a:prstGeom prst="roundRect">
            <a:avLst>
              <a:gd fmla="val 8333" name="adj"/>
            </a:avLst>
          </a:prstGeom>
          <a:solidFill>
            <a:srgbClr val="F1F5F9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841248" y="4892040"/>
            <a:ext cx="10509199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Measured (Semrush, 14 Jul 2026):  Authority Score 16  ·  67 organic keywords  ·  191 ref. domains  ·  598 backlinks  ·  organic traffic −8.1%  ·  ChatGPT 0 mentions / 0 cited pages.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Quilzy</a:t>
            </a: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·   SEO/GEO Visibility Audit   ·   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OnArrival  ·  14 July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/>
          <p:nvPr/>
        </p:nvSpPr>
        <p:spPr>
          <a:xfrm>
            <a:off x="566928" y="640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THE OPPORTUNITY IN ONE 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66928" y="1371600"/>
            <a:ext cx="11057839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OnArrival has the hard-to-build assets — enterprise customers, funding, a Skift feature. What it lacks is a finished, machine-readable content engine: placeholder pages, no blog, only 67 keywords, and organic traffic that has already fallen. AI can reach it but can't recommend it.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66928" y="3794760"/>
            <a:ext cx="1105783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Closing it is a content-and-schema problem, not a rebuild — which means fast wins are available.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66928" y="47091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AA0B4"/>
                </a:solidFill>
                <a:latin typeface="Calibri"/>
                <a:ea typeface="Calibri"/>
                <a:cs typeface="Calibri"/>
                <a:sym typeface="Calibri"/>
              </a:rPr>
              <a:t>ALREADY WORKING — KEEP THESE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66928" y="5074920"/>
            <a:ext cx="2607869" cy="310896"/>
          </a:xfrm>
          <a:prstGeom prst="roundRect">
            <a:avLst>
              <a:gd fmla="val 50000" name="adj"/>
            </a:avLst>
          </a:prstGeom>
          <a:solidFill>
            <a:srgbClr val="1231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566928" y="5074920"/>
            <a:ext cx="2607869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Unique meta descriptions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375965" y="5074920"/>
            <a:ext cx="2159813" cy="310896"/>
          </a:xfrm>
          <a:prstGeom prst="roundRect">
            <a:avLst>
              <a:gd fmla="val 50000" name="adj"/>
            </a:avLst>
          </a:prstGeom>
          <a:solidFill>
            <a:srgbClr val="1231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3375965" y="5074920"/>
            <a:ext cx="2159813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Clean URL structure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736946" y="5074920"/>
            <a:ext cx="4400093" cy="310896"/>
          </a:xfrm>
          <a:prstGeom prst="roundRect">
            <a:avLst>
              <a:gd fmla="val 50000" name="adj"/>
            </a:avLst>
          </a:prstGeom>
          <a:solidFill>
            <a:srgbClr val="1231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5736946" y="5074920"/>
            <a:ext cx="4400093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Credible brand footprint (Skift, Crunchbase)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Quilzy</a:t>
            </a:r>
            <a:r>
              <a:rPr b="0" i="0" lang="en-US" sz="900" u="none" cap="none" strike="noStrike">
                <a:solidFill>
                  <a:srgbClr val="8AA0B4"/>
                </a:solidFill>
                <a:latin typeface="Calibri"/>
                <a:ea typeface="Calibri"/>
                <a:cs typeface="Calibri"/>
                <a:sym typeface="Calibri"/>
              </a:rPr>
              <a:t>   ·   SEO/GEO Visibility Audit   ·   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0B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4"/>
                </a:solidFill>
                <a:latin typeface="Calibri"/>
                <a:ea typeface="Calibri"/>
                <a:cs typeface="Calibri"/>
                <a:sym typeface="Calibri"/>
              </a:rPr>
              <a:t>OnArrival  ·  14 July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PROOF YOU CAN CHECK YOURSELF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Three findings you can verify in 60 seconds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66928" y="1828800"/>
            <a:ext cx="3503066" cy="3703320"/>
          </a:xfrm>
          <a:prstGeom prst="roundRect">
            <a:avLst>
              <a:gd fmla="val 2088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B8C4D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822960" y="2084832"/>
            <a:ext cx="566928" cy="566928"/>
          </a:xfrm>
          <a:prstGeom prst="ellipse">
            <a:avLst/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822960" y="208483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6B6D4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2652674" y="2194560"/>
            <a:ext cx="1188720" cy="310896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2652674" y="2194560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MEASURED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822960" y="2834640"/>
            <a:ext cx="299100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Placeholder / Lorem-ipsum on live pages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822960" y="3703320"/>
            <a:ext cx="2991002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Open /solutions/core-travel/flights — “dummy text… dabore et dolore” repeats 3×.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344314" y="1828800"/>
            <a:ext cx="3503066" cy="3703320"/>
          </a:xfrm>
          <a:prstGeom prst="roundRect">
            <a:avLst>
              <a:gd fmla="val 2088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B8C4D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4600346" y="2084832"/>
            <a:ext cx="566928" cy="566928"/>
          </a:xfrm>
          <a:prstGeom prst="ellipse">
            <a:avLst/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4600346" y="208483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6B6D4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430061" y="2194560"/>
            <a:ext cx="1188720" cy="310896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6430061" y="2194560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MEASURED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600346" y="2834640"/>
            <a:ext cx="299100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Dummy testimonials on real named CEOs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600346" y="3703320"/>
            <a:ext cx="2991002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Homepage “Fully integrated suite of travel prducts…” credited to Cleartrip &amp; Niyo CEOs.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8121701" y="1828800"/>
            <a:ext cx="3503066" cy="3703320"/>
          </a:xfrm>
          <a:prstGeom prst="roundRect">
            <a:avLst>
              <a:gd fmla="val 2088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B8C4D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8377733" y="2084832"/>
            <a:ext cx="566928" cy="566928"/>
          </a:xfrm>
          <a:prstGeom prst="ellipse">
            <a:avLst/>
          </a:prstGeom>
          <a:solidFill>
            <a:srgbClr val="0B12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8377733" y="208483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6B6D4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0207447" y="2194560"/>
            <a:ext cx="1188720" cy="310896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10207447" y="2194560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MEASURED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377733" y="2834640"/>
            <a:ext cx="299100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Old template pages still indexed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8377733" y="3703320"/>
            <a:ext cx="2991002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Google site:onarrival.com → /detroit, /app/favorites, /old-home-3, /checkout.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Quilzy</a:t>
            </a: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·   SEO/GEO Visibility Audit   ·   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OnArrival  ·  14 July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THIS ISN'T HYPOTHETICAL — IT'S HAPPENING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Your organic traffic already collapsed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66928" y="1536192"/>
            <a:ext cx="11057839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Semrush shows organic traffic climbing through mid-2025, then falling off a cliff to near-zero by autumn — and still declining (−8.1%).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1" name="Google Shape;141;p6"/>
          <p:cNvGraphicFramePr/>
          <p:nvPr/>
        </p:nvGraphicFramePr>
        <p:xfrm>
          <a:off x="566928" y="2286000"/>
          <a:ext cx="11057839" cy="12344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42" name="Google Shape;142;p6"/>
          <p:cNvSpPr/>
          <p:nvPr/>
        </p:nvSpPr>
        <p:spPr>
          <a:xfrm>
            <a:off x="566928" y="3538728"/>
            <a:ext cx="11057839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rPr b="1" i="1" lang="en-US" sz="9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mid-2025 peak  →  near-zero by autumn 2025, still declining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66928" y="3840480"/>
            <a:ext cx="3503066" cy="1417320"/>
          </a:xfrm>
          <a:prstGeom prst="roundRect">
            <a:avLst>
              <a:gd fmla="val 4516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768096" y="3968496"/>
            <a:ext cx="3100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Only 67 organic keywords remain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768096" y="4590288"/>
            <a:ext cx="310073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Authority Score sits at 16 — almost nothing ranks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344314" y="3840480"/>
            <a:ext cx="3503066" cy="1417320"/>
          </a:xfrm>
          <a:prstGeom prst="roundRect">
            <a:avLst>
              <a:gd fmla="val 4516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4545482" y="3968496"/>
            <a:ext cx="3100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Your Semrush “organic competitors” are Sifted, TechFundingNews, businesscloud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545482" y="4590288"/>
            <a:ext cx="310073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Funding-news sites — you surface next to articles about your funding, never in the product category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8121701" y="3840480"/>
            <a:ext cx="3503066" cy="1417320"/>
          </a:xfrm>
          <a:prstGeom prst="roundRect">
            <a:avLst>
              <a:gd fmla="val 4516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8322869" y="3968496"/>
            <a:ext cx="310073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ChatGPT: 0 mentions, 0 cited pages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8322869" y="4590288"/>
            <a:ext cx="310073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AI cites youtube, wise, reverso in your space — not onarrival.com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66928" y="5440680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The point:  </a:t>
            </a:r>
            <a:r>
              <a:rPr b="0" i="1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unfinished rebuild didn't just stall growth — it reversed it. Recoverable, but it needs a real content engine now.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Quilzy</a:t>
            </a: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·   SEO/GEO Visibility Audit   ·   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OnArrival  ·  14 July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GEO / AI-CITATION  ·  37/100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Where AI names your competitors — not you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2" name="Google Shape;162;p7"/>
          <p:cNvGraphicFramePr/>
          <p:nvPr/>
        </p:nvGraphicFramePr>
        <p:xfrm>
          <a:off x="566928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{12CE7DAE-36BF-40FC-BB4E-594919E518EC}</a:tableStyleId>
              </a:tblPr>
              <a:tblGrid>
                <a:gridCol w="4297675"/>
                <a:gridCol w="1371600"/>
                <a:gridCol w="4023350"/>
                <a:gridCol w="137160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Buyer prompt (re-run to verify)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OnArrival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Who AI names instead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“best embedded travel API platform”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ABSENT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Duffel, Nuitée, Amadeus, Bridgify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749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E749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BENCHMARK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“travel API for flights &amp; hotels (OTA)”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ABSENT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Amadeus, Duffel, Travelopro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749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E749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BENCHMARK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ChatGPT — 0 of your pages cited (Semrush)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ABSENT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youtube, wise, reverso cited instead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MEASURED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“tell me about OnArrival travel”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RICH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MEASURED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63" name="Google Shape;163;p7"/>
          <p:cNvSpPr/>
          <p:nvPr/>
        </p:nvSpPr>
        <p:spPr>
          <a:xfrm>
            <a:off x="566928" y="4343400"/>
            <a:ext cx="11057839" cy="1051560"/>
          </a:xfrm>
          <a:prstGeom prst="roundRect">
            <a:avLst>
              <a:gd fmla="val 6957" name="adj"/>
            </a:avLst>
          </a:prstGeom>
          <a:solidFill>
            <a:srgbClr val="CFFAFE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841248" y="4343400"/>
            <a:ext cx="10509199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What it costs:  </a:t>
            </a: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Every category query where a competitor is named and you are not is a buyer building a shortlist you never make — lost impressions at the exact moment a purchase decision begins.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Quilzy</a:t>
            </a: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·   SEO/GEO Visibility Audit   ·   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OnArrival  ·  14 July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SEO 43/100  ·  BACKLINKS 35/100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What's holding your pages back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4" name="Google Shape;174;p8"/>
          <p:cNvGraphicFramePr/>
          <p:nvPr/>
        </p:nvGraphicFramePr>
        <p:xfrm>
          <a:off x="566928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{12CE7DAE-36BF-40FC-BB4E-594919E518EC}</a:tableStyleId>
              </a:tblPr>
              <a:tblGrid>
                <a:gridCol w="4480550"/>
                <a:gridCol w="3840475"/>
                <a:gridCol w="868675"/>
                <a:gridCol w="1874525"/>
              </a:tblGrid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Finding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it's costing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Sev.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Confidence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Placeholder copy on live pages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pages thin &amp; uncitable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MEASURED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Legacy pages polluting the index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Google/AI describe wrong product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MEASURED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Only 67 organic keywords; traffic −8%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Almost nothing ranks; no funnel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580C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EA580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MEASURED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JSON-LD structured data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rich results; weak AI entity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580C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EA580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45309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B4530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ESTIMATED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blog / docs / category content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 the pages that win traffic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A580C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EA580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MEASURED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5" name="Google Shape;175;p8"/>
          <p:cNvSpPr/>
          <p:nvPr/>
        </p:nvSpPr>
        <p:spPr>
          <a:xfrm>
            <a:off x="566928" y="4892040"/>
            <a:ext cx="11057839" cy="914400"/>
          </a:xfrm>
          <a:prstGeom prst="roundRect">
            <a:avLst>
              <a:gd fmla="val 8000" name="adj"/>
            </a:avLst>
          </a:prstGeom>
          <a:solidFill>
            <a:srgbClr val="FEF3C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841248" y="4892040"/>
            <a:ext cx="105091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Backlinks (measured): 598 links across 191 referring domains — but Authority Score is just 16, and links skew to one-off funding PR (Skift, BW Disrupt, YourStory). Absent from the “best travel API” pages that rank AND feed AI answers.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Quilzy</a:t>
            </a: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·   SEO/GEO Visibility Audit   ·   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OnArrival  ·  14 July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WHAT QUILZY FIXES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Get found on every surface buyers search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566928" y="1536192"/>
            <a:ext cx="110578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Quilzy is a discoverability platform: one hosted blog on your own domain that gets your content found everywhere people search.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566928" y="2286000"/>
            <a:ext cx="2558720" cy="3063240"/>
          </a:xfrm>
          <a:prstGeom prst="roundRect">
            <a:avLst>
              <a:gd fmla="val 3216" name="adj"/>
            </a:avLst>
          </a:prstGeom>
          <a:solidFill>
            <a:srgbClr val="F1F5F9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8C4D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822960" y="2542032"/>
            <a:ext cx="457200" cy="45720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822960" y="25420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822960" y="3154680"/>
            <a:ext cx="20466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Search engines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822960" y="3840480"/>
            <a:ext cx="204665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Rank on Google &amp; Bing — technical SEO built into every page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3399968" y="2286000"/>
            <a:ext cx="2558720" cy="3063240"/>
          </a:xfrm>
          <a:prstGeom prst="roundRect">
            <a:avLst>
              <a:gd fmla="val 3216" name="adj"/>
            </a:avLst>
          </a:prstGeom>
          <a:solidFill>
            <a:srgbClr val="0B1220"/>
          </a:solidFill>
          <a:ln>
            <a:noFill/>
          </a:ln>
          <a:effectLst>
            <a:outerShdw blurRad="76200" rotWithShape="0" algn="bl" dir="5400000" dist="25400">
              <a:srgbClr val="B8C4D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3656000" y="2542032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3656000" y="25420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B1220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3656000" y="3154680"/>
            <a:ext cx="20466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AI answers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3656000" y="3840480"/>
            <a:ext cx="204665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6E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D6E6"/>
                </a:solidFill>
                <a:latin typeface="Calibri"/>
                <a:ea typeface="Calibri"/>
                <a:cs typeface="Calibri"/>
                <a:sym typeface="Calibri"/>
              </a:rPr>
              <a:t>Be citable by ChatGPT, Claude &amp; Perplexity — named where buyers ask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6233008" y="2286000"/>
            <a:ext cx="2558720" cy="3063240"/>
          </a:xfrm>
          <a:prstGeom prst="roundRect">
            <a:avLst>
              <a:gd fmla="val 3216" name="adj"/>
            </a:avLst>
          </a:prstGeom>
          <a:solidFill>
            <a:srgbClr val="F1F5F9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8C4D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6489040" y="2542032"/>
            <a:ext cx="457200" cy="45720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6489040" y="25420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6489040" y="3154680"/>
            <a:ext cx="20466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Google News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6489040" y="3840480"/>
            <a:ext cx="204665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Qualify as a newsroom for News &amp; Top Stories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9066047" y="2286000"/>
            <a:ext cx="2558720" cy="3063240"/>
          </a:xfrm>
          <a:prstGeom prst="roundRect">
            <a:avLst>
              <a:gd fmla="val 3216" name="adj"/>
            </a:avLst>
          </a:prstGeom>
          <a:solidFill>
            <a:srgbClr val="F1F5F9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B8C4D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9322079" y="2542032"/>
            <a:ext cx="457200" cy="457200"/>
          </a:xfrm>
          <a:prstGeom prst="ellipse">
            <a:avLst/>
          </a:prstGeom>
          <a:solidFill>
            <a:srgbClr val="0E74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9322079" y="25420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9322079" y="3154680"/>
            <a:ext cx="20466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Social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9322079" y="3840480"/>
            <a:ext cx="204665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Auto-repurpose every post to your social channels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566928" y="5532120"/>
            <a:ext cx="110578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One hosted blog on your own domain — not four tools, not a subdomain you don't own.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Quilzy</a:t>
            </a: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·   SEO/GEO Visibility Audit   ·   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OnArrival  ·  14 July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How Quilzy turns fixes into impressions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7" name="Google Shape;217;p10"/>
          <p:cNvGraphicFramePr/>
          <p:nvPr/>
        </p:nvGraphicFramePr>
        <p:xfrm>
          <a:off x="566928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{12CE7DAE-36BF-40FC-BB4E-594919E518EC}</a:tableStyleId>
              </a:tblPr>
              <a:tblGrid>
                <a:gridCol w="3017525"/>
                <a:gridCol w="5120650"/>
                <a:gridCol w="2926075"/>
              </a:tblGrid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Your gap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Quilzy does automatically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Impression surface it opens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490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blog / category content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Hosted blog + newsroom on your domain; AI agents draft search-first posts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749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E749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&amp; Bing organic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Invisible on AI category queries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AI-search-readable structure + JSON-LD so ChatGPT/Claude/Perplexity can cite you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749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E749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answers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FAFE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structured data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Automatic JSON-LD schema on every post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749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E749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Rich results + AI entity clarity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Slow / weak indexing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IndexNow instant indexing + auto sitemaps + internal links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749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E749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Faster, fuller indexation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FAFE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news / PR surface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News-ready newsroom (schema, RSS, sitemaps)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749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E749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News &amp; Top Stories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Speed / CWV risk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90+ Lighthouse, &lt;1s first paint, global CDN — built in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FA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749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E749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Ranking factor on all four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E6F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FAFE"/>
                    </a:solidFill>
                  </a:tcPr>
                </a:tc>
              </a:tr>
            </a:tbl>
          </a:graphicData>
        </a:graphic>
      </p:graphicFrame>
      <p:sp>
        <p:nvSpPr>
          <p:cNvPr id="218" name="Google Shape;218;p10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50"/>
              <a:buFont typeface="Calibri"/>
              <a:buNone/>
            </a:pPr>
            <a:r>
              <a:rPr b="1" i="1" lang="en-US" sz="115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Honest promise:  </a:t>
            </a:r>
            <a:r>
              <a:rPr b="0" i="1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Quilzy doesn't promise a rank. It removes every technical reason a page fails to get found, then reports impressions + AI-citation share as the headline metrics.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Quilzy</a:t>
            </a: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·   SEO/GEO Visibility Audit   ·   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OnArrival  ·  14 July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THE DIFFERENTIATOR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Why Quilzy, not another plugin or agency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566928" y="1517904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One platform for every surface people search — done for you, on your own domain.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9" name="Google Shape;229;p11"/>
          <p:cNvGraphicFramePr/>
          <p:nvPr/>
        </p:nvGraphicFramePr>
        <p:xfrm>
          <a:off x="566928" y="20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{12CE7DAE-36BF-40FC-BB4E-594919E518EC}</a:tableStyleId>
              </a:tblPr>
              <a:tblGrid>
                <a:gridCol w="2468875"/>
                <a:gridCol w="4297675"/>
                <a:gridCol w="4297675"/>
              </a:tblGrid>
              <a:tr h="57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7D6E6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C7D6E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usual way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With Quilzy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</a:tr>
              <a:tr h="57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Technical SEO / GEO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25+ plugins to install, update &amp; secure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Built in — schema, sitemaps, indexing, links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FAFE"/>
                    </a:solidFill>
                  </a:tcPr>
                </a:tc>
              </a:tr>
              <a:tr h="57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Indexing speed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Wait days for a crawler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IndexNow pings engines the moment you publish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FAFE"/>
                    </a:solidFill>
                  </a:tcPr>
                </a:tc>
              </a:tr>
              <a:tr h="57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+ News surfaces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Separate setup most teams never do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AI-search-ready + Google News schema, automatic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FAFE"/>
                    </a:solidFill>
                  </a:tcPr>
                </a:tc>
              </a:tr>
              <a:tr h="57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Publishing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Inconsistent; stalls without a team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agents draft search-first posts on cadence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FAFE"/>
                    </a:solidFill>
                  </a:tcPr>
                </a:tc>
              </a:tr>
              <a:tr h="57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Speed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Plugins slow the site down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90+ Lighthouse, &lt;1s paint, global CDN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FAFE"/>
                    </a:solidFill>
                  </a:tcPr>
                </a:tc>
              </a:tr>
              <a:tr h="57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Ownership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Rented equity on a third-party subdomain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Hosted on your own domain — you keep the equity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E2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FAFE"/>
                    </a:solidFill>
                  </a:tcPr>
                </a:tc>
              </a:tr>
            </a:tbl>
          </a:graphicData>
        </a:graphic>
      </p:graphicFrame>
      <p:sp>
        <p:nvSpPr>
          <p:cNvPr id="230" name="Google Shape;230;p11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Quilzy</a:t>
            </a: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·   SEO/GEO Visibility Audit   ·   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OnArrival  ·  14 July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"/>
          <p:cNvSpPr/>
          <p:nvPr/>
        </p:nvSpPr>
        <p:spPr>
          <a:xfrm>
            <a:off x="566928" y="640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PROOF IT COMPOUNDS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566928" y="1143000"/>
            <a:ext cx="11057839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Sheetwa</a:t>
            </a:r>
            <a:r>
              <a:rPr b="1" i="0" lang="en-US" sz="3000" u="none" cap="none" strike="noStrike">
                <a:solidFill>
                  <a:srgbClr val="9FB8CF"/>
                </a:solidFill>
                <a:latin typeface="Cambria"/>
                <a:ea typeface="Cambria"/>
                <a:cs typeface="Cambria"/>
                <a:sym typeface="Cambria"/>
              </a:rPr>
              <a:t> — one Quilzy content engine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566928" y="2286000"/>
            <a:ext cx="5346040" cy="2286000"/>
          </a:xfrm>
          <a:prstGeom prst="roundRect">
            <a:avLst>
              <a:gd fmla="val 4800" name="adj"/>
            </a:avLst>
          </a:prstGeom>
          <a:solidFill>
            <a:srgbClr val="0C2A4A"/>
          </a:solidFill>
          <a:ln cap="flat" cmpd="sng" w="12700">
            <a:solidFill>
              <a:srgbClr val="1745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841248" y="2468880"/>
            <a:ext cx="4797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400"/>
              <a:buFont typeface="Cambria"/>
              <a:buNone/>
            </a:pPr>
            <a:r>
              <a:rPr b="1" i="0" lang="en-US" sz="8400" u="none" cap="none" strike="noStrike">
                <a:solidFill>
                  <a:srgbClr val="06B6D4"/>
                </a:solidFill>
                <a:latin typeface="Cambria"/>
                <a:ea typeface="Cambria"/>
                <a:cs typeface="Cambria"/>
                <a:sym typeface="Cambria"/>
              </a:rPr>
              <a:t>3M+</a:t>
            </a:r>
            <a:endParaRPr b="0" i="0" sz="8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886968" y="3703320"/>
            <a:ext cx="470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AI-ENGINE IMPRESSIONS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6278728" y="2286000"/>
            <a:ext cx="5346040" cy="2286000"/>
          </a:xfrm>
          <a:prstGeom prst="roundRect">
            <a:avLst>
              <a:gd fmla="val 4800" name="adj"/>
            </a:avLst>
          </a:prstGeom>
          <a:solidFill>
            <a:srgbClr val="0C2A4A"/>
          </a:solidFill>
          <a:ln cap="flat" cmpd="sng" w="12700">
            <a:solidFill>
              <a:srgbClr val="1745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6553048" y="2468880"/>
            <a:ext cx="4797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400"/>
              <a:buFont typeface="Cambria"/>
              <a:buNone/>
            </a:pPr>
            <a:r>
              <a:rPr b="1" i="0" lang="en-US" sz="8400" u="none" cap="none" strike="noStrike">
                <a:solidFill>
                  <a:srgbClr val="06B6D4"/>
                </a:solidFill>
                <a:latin typeface="Cambria"/>
                <a:ea typeface="Cambria"/>
                <a:cs typeface="Cambria"/>
                <a:sym typeface="Cambria"/>
              </a:rPr>
              <a:t>4M+</a:t>
            </a:r>
            <a:endParaRPr b="0" i="0" sz="8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6598768" y="3703320"/>
            <a:ext cx="470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SEO IMPRESSIONS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566928" y="4892040"/>
            <a:ext cx="11057839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6E6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7D6E6"/>
                </a:solidFill>
                <a:latin typeface="Calibri"/>
                <a:ea typeface="Calibri"/>
                <a:cs typeface="Calibri"/>
                <a:sym typeface="Calibri"/>
              </a:rPr>
              <a:t>One Quilzy-hosted content engine — compounding impressions across Google and AI answers, from a single blog on the client's own domain.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566928" y="56235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3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8399"/>
                </a:solidFill>
                <a:latin typeface="Calibri"/>
                <a:ea typeface="Calibri"/>
                <a:cs typeface="Calibri"/>
                <a:sym typeface="Calibri"/>
              </a:rPr>
              <a:t>Client result per Quilzy reporting.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Quilzy</a:t>
            </a:r>
            <a:r>
              <a:rPr b="0" i="0" lang="en-US" sz="900" u="none" cap="none" strike="noStrike">
                <a:solidFill>
                  <a:srgbClr val="8AA0B4"/>
                </a:solidFill>
                <a:latin typeface="Calibri"/>
                <a:ea typeface="Calibri"/>
                <a:cs typeface="Calibri"/>
                <a:sym typeface="Calibri"/>
              </a:rPr>
              <a:t>   ·   SEO/GEO Visibility Audit   ·   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0B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4"/>
                </a:solidFill>
                <a:latin typeface="Calibri"/>
                <a:ea typeface="Calibri"/>
                <a:cs typeface="Calibri"/>
                <a:sym typeface="Calibri"/>
              </a:rPr>
              <a:t>OnArrival  ·  14 July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CLEAR SCOPE KEEPS IT CREDIBLE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What Quilzy owns vs. what stays your side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566928" y="1828800"/>
            <a:ext cx="5346040" cy="3566160"/>
          </a:xfrm>
          <a:prstGeom prst="roundRect">
            <a:avLst>
              <a:gd fmla="val 2308" name="adj"/>
            </a:avLst>
          </a:prstGeom>
          <a:solidFill>
            <a:srgbClr val="CFFAFE"/>
          </a:solidFill>
          <a:ln cap="flat" cmpd="sng" w="15875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"/>
          <p:cNvSpPr/>
          <p:nvPr/>
        </p:nvSpPr>
        <p:spPr>
          <a:xfrm>
            <a:off x="841248" y="2057400"/>
            <a:ext cx="479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QUILZY OWNS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841248" y="2395728"/>
            <a:ext cx="479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The content &amp; discoverability engine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886968" y="2926080"/>
            <a:ext cx="47059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✓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Hosted blog + newsroom on your domain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✓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Technical SEO/GEO on every post (schema, indexing)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✓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Google News eligibility + AI-search readiness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✓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Social repurposing + consistent publishing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6278728" y="1828800"/>
            <a:ext cx="5346040" cy="3566160"/>
          </a:xfrm>
          <a:prstGeom prst="roundRect">
            <a:avLst>
              <a:gd fmla="val 2308" name="adj"/>
            </a:avLst>
          </a:prstGeom>
          <a:solidFill>
            <a:srgbClr val="F1F5F9"/>
          </a:solidFill>
          <a:ln cap="flat" cmpd="sng" w="1587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6553048" y="2057400"/>
            <a:ext cx="479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STAYS YOUR SIDE — WE FLAG, NOT HIDE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6553048" y="2395728"/>
            <a:ext cx="479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Quick site-hygiene fixes (the P0s)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6598768" y="2926080"/>
            <a:ext cx="47059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→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Remove placeholder copy on the Webflow site (P0)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→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Purge / redirect legacy indexed pages (P0)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→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Fix dead demo CTAs on the main site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Quilzy</a:t>
            </a: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·   SEO/GEO Visibility Audit   ·   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OnArrival  ·  14 July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"/>
          <p:cNvSpPr/>
          <p:nvPr/>
        </p:nvSpPr>
        <p:spPr>
          <a:xfrm>
            <a:off x="9448495" y="-1188720"/>
            <a:ext cx="3657600" cy="3657600"/>
          </a:xfrm>
          <a:prstGeom prst="ellipse">
            <a:avLst/>
          </a:prstGeom>
          <a:solidFill>
            <a:srgbClr val="0C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"/>
          <p:cNvSpPr/>
          <p:nvPr/>
        </p:nvSpPr>
        <p:spPr>
          <a:xfrm>
            <a:off x="566928" y="1005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PROPOSED NEXT STEP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566928" y="1554480"/>
            <a:ext cx="94484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See the surface open in real time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566928" y="2743200"/>
            <a:ext cx="9265615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7D6E6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7D6E6"/>
                </a:solidFill>
                <a:latin typeface="Calibri"/>
                <a:ea typeface="Calibri"/>
                <a:cs typeface="Calibri"/>
                <a:sym typeface="Calibri"/>
              </a:rPr>
              <a:t>A 7-day Quilzy trial on your /blog — we stand up 3–5 category posts targeting the exact queries where you are invisible today, then baseline impressions + AI-citation share so you watch the surface open in real time.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566928" y="4846320"/>
            <a:ext cx="2926080" cy="310896"/>
          </a:xfrm>
          <a:prstGeom prst="roundRect">
            <a:avLst>
              <a:gd fmla="val 50000" name="adj"/>
            </a:avLst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4"/>
          <p:cNvSpPr/>
          <p:nvPr/>
        </p:nvSpPr>
        <p:spPr>
          <a:xfrm>
            <a:off x="566928" y="4846320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B1220"/>
                </a:solidFill>
                <a:latin typeface="Calibri"/>
                <a:ea typeface="Calibri"/>
                <a:cs typeface="Calibri"/>
                <a:sym typeface="Calibri"/>
              </a:rPr>
              <a:t>Start a 7-day Quilzy trial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3767328" y="484632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0B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AA0B4"/>
                </a:solidFill>
                <a:latin typeface="Calibri"/>
                <a:ea typeface="Calibri"/>
                <a:cs typeface="Calibri"/>
                <a:sym typeface="Calibri"/>
              </a:rPr>
              <a:t>quilzy.com   ·   Free for 7 days · No credit card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Quilzy</a:t>
            </a:r>
            <a:r>
              <a:rPr b="0" i="0" lang="en-US" sz="900" u="none" cap="none" strike="noStrike">
                <a:solidFill>
                  <a:srgbClr val="8AA0B4"/>
                </a:solidFill>
                <a:latin typeface="Calibri"/>
                <a:ea typeface="Calibri"/>
                <a:cs typeface="Calibri"/>
                <a:sym typeface="Calibri"/>
              </a:rPr>
              <a:t>   ·   SEO/GEO Visibility Audit   ·   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0B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A0B4"/>
                </a:solidFill>
                <a:latin typeface="Calibri"/>
                <a:ea typeface="Calibri"/>
                <a:cs typeface="Calibri"/>
                <a:sym typeface="Calibri"/>
              </a:rPr>
              <a:t>OnArrival  ·  14 July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FOR INTERNAL USE — REUSE THIS DECK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566928" y="749808"/>
            <a:ext cx="11057839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Template guide: swap these for the next client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566928" y="1828800"/>
            <a:ext cx="5212080" cy="658368"/>
          </a:xfrm>
          <a:prstGeom prst="roundRect">
            <a:avLst>
              <a:gd fmla="val 8333" name="adj"/>
            </a:avLst>
          </a:prstGeom>
          <a:solidFill>
            <a:srgbClr val="F1F5F9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5"/>
          <p:cNvSpPr/>
          <p:nvPr/>
        </p:nvSpPr>
        <p:spPr>
          <a:xfrm>
            <a:off x="795528" y="1883664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Client name &amp; domain</a:t>
            </a:r>
            <a:b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Cover + section headers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566928" y="2633472"/>
            <a:ext cx="5212080" cy="658368"/>
          </a:xfrm>
          <a:prstGeom prst="roundRect">
            <a:avLst>
              <a:gd fmla="val 8333" name="adj"/>
            </a:avLst>
          </a:prstGeom>
          <a:solidFill>
            <a:srgbClr val="F1F5F9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"/>
          <p:cNvSpPr/>
          <p:nvPr/>
        </p:nvSpPr>
        <p:spPr>
          <a:xfrm>
            <a:off x="795528" y="2688336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Four scores + verdict</a:t>
            </a:r>
            <a:b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Scorecard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566928" y="3438144"/>
            <a:ext cx="5212080" cy="658368"/>
          </a:xfrm>
          <a:prstGeom prst="roundRect">
            <a:avLst>
              <a:gd fmla="val 8333" name="adj"/>
            </a:avLst>
          </a:prstGeom>
          <a:solidFill>
            <a:srgbClr val="F1F5F9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"/>
          <p:cNvSpPr/>
          <p:nvPr/>
        </p:nvSpPr>
        <p:spPr>
          <a:xfrm>
            <a:off x="795528" y="3493008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Opportunity statement</a:t>
            </a:r>
            <a:b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Opportunity slide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566928" y="4242816"/>
            <a:ext cx="5212080" cy="658368"/>
          </a:xfrm>
          <a:prstGeom prst="roundRect">
            <a:avLst>
              <a:gd fmla="val 8333" name="adj"/>
            </a:avLst>
          </a:prstGeom>
          <a:solidFill>
            <a:srgbClr val="F1F5F9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"/>
          <p:cNvSpPr/>
          <p:nvPr/>
        </p:nvSpPr>
        <p:spPr>
          <a:xfrm>
            <a:off x="795528" y="429768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 verify-in-60s findings</a:t>
            </a:r>
            <a:b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Verify slide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566928" y="5047488"/>
            <a:ext cx="5212080" cy="658368"/>
          </a:xfrm>
          <a:prstGeom prst="roundRect">
            <a:avLst>
              <a:gd fmla="val 8333" name="adj"/>
            </a:avLst>
          </a:prstGeom>
          <a:solidFill>
            <a:srgbClr val="F1F5F9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795528" y="5102352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GEO prompts + who wins</a:t>
            </a:r>
            <a:b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GEO matrix (hero)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6236208" y="1828800"/>
            <a:ext cx="5212080" cy="658368"/>
          </a:xfrm>
          <a:prstGeom prst="roundRect">
            <a:avLst>
              <a:gd fmla="val 8333" name="adj"/>
            </a:avLst>
          </a:prstGeom>
          <a:solidFill>
            <a:srgbClr val="F1F5F9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5"/>
          <p:cNvSpPr/>
          <p:nvPr/>
        </p:nvSpPr>
        <p:spPr>
          <a:xfrm>
            <a:off x="6464808" y="1883664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SEO + backlink diagnosis</a:t>
            </a:r>
            <a:b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“Holding you back” slide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6236208" y="2633472"/>
            <a:ext cx="5212080" cy="658368"/>
          </a:xfrm>
          <a:prstGeom prst="roundRect">
            <a:avLst>
              <a:gd fmla="val 8333" name="adj"/>
            </a:avLst>
          </a:prstGeom>
          <a:solidFill>
            <a:srgbClr val="F1F5F9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5"/>
          <p:cNvSpPr/>
          <p:nvPr/>
        </p:nvSpPr>
        <p:spPr>
          <a:xfrm>
            <a:off x="6464808" y="2688336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Proof stats (client + impressions)</a:t>
            </a:r>
            <a:b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Proof slide — swap per pitch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6236208" y="3438144"/>
            <a:ext cx="5212080" cy="658368"/>
          </a:xfrm>
          <a:prstGeom prst="roundRect">
            <a:avLst>
              <a:gd fmla="val 8333" name="adj"/>
            </a:avLst>
          </a:prstGeom>
          <a:solidFill>
            <a:srgbClr val="F1F5F9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5"/>
          <p:cNvSpPr/>
          <p:nvPr/>
        </p:nvSpPr>
        <p:spPr>
          <a:xfrm>
            <a:off x="6464808" y="3493008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Quilzy outcome / how / differentiator</a:t>
            </a:r>
            <a:b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Reusable as-is — rarely changes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6236208" y="4242816"/>
            <a:ext cx="5212080" cy="658368"/>
          </a:xfrm>
          <a:prstGeom prst="roundRect">
            <a:avLst>
              <a:gd fmla="val 8333" name="adj"/>
            </a:avLst>
          </a:prstGeom>
          <a:solidFill>
            <a:srgbClr val="F1F5F9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6464808" y="429768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Scope lists</a:t>
            </a:r>
            <a:b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Scope slide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6236208" y="5047488"/>
            <a:ext cx="5212080" cy="658368"/>
          </a:xfrm>
          <a:prstGeom prst="roundRect">
            <a:avLst>
              <a:gd fmla="val 8333" name="adj"/>
            </a:avLst>
          </a:prstGeom>
          <a:solidFill>
            <a:srgbClr val="F1F5F9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5"/>
          <p:cNvSpPr/>
          <p:nvPr/>
        </p:nvSpPr>
        <p:spPr>
          <a:xfrm>
            <a:off x="6464808" y="5102352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Next-step CTA</a:t>
            </a:r>
            <a:b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CTA slide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566928" y="5989320"/>
            <a:ext cx="110578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Workflow: edit the CONFIG block (or replace text in place), keep the confidence labels honest, and re-run the audit before each pitch so every claim stays verifiable.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E7490"/>
                </a:solidFill>
                <a:latin typeface="Calibri"/>
                <a:ea typeface="Calibri"/>
                <a:cs typeface="Calibri"/>
                <a:sym typeface="Calibri"/>
              </a:rPr>
              <a:t>Quilzy</a:t>
            </a: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·   SEO/GEO Visibility Audit   ·   Confidential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7418527" y="647395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OnArrival  ·  14 July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2026-07-15T05:46:17Z</dcterms:created>
  <dc:creator>PptxGenJS</dc:creator>
</cp:coreProperties>
</file>