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1463040"/>
            <a:ext cx="4206240" cy="4206240"/>
          </a:xfrm>
          <a:prstGeom prst="roundRect">
            <a:avLst>
              <a:gd name="adj" fmla="val 8696"/>
            </a:avLst>
          </a:prstGeom>
          <a:solidFill>
            <a:srgbClr val="0C2A4A"/>
          </a:solidFill>
          <a:ln/>
        </p:spPr>
      </p:sp>
      <p:sp>
        <p:nvSpPr>
          <p:cNvPr id="3" name="Shape 1"/>
          <p:cNvSpPr/>
          <p:nvPr/>
        </p:nvSpPr>
        <p:spPr>
          <a:xfrm>
            <a:off x="10180015" y="3108960"/>
            <a:ext cx="2926080" cy="2926080"/>
          </a:xfrm>
          <a:prstGeom prst="ellipse">
            <a:avLst/>
          </a:prstGeom>
          <a:solidFill>
            <a:srgbClr val="0F355C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371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· GEO · AI-CITATION · BACKLINK AUDIT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1828800"/>
            <a:ext cx="8595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Qoruz</a:t>
            </a:r>
            <a:pPr indent="0" marL="0">
              <a:lnSpc>
                <a:spcPct val="98000"/>
              </a:lnSpc>
              <a:buNone/>
            </a:pPr>
            <a:endParaRPr lang="en-US" sz="5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Visibility Audit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66928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qoruz.com   ·   Prepared by Quilzy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66928" y="4800600"/>
            <a:ext cx="1664208" cy="310896"/>
          </a:xfrm>
          <a:prstGeom prst="roundRect">
            <a:avLst>
              <a:gd name="adj" fmla="val 50000"/>
            </a:avLst>
          </a:prstGeom>
          <a:solidFill>
            <a:srgbClr val="12314F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4800600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engines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32304" y="4800600"/>
            <a:ext cx="1376172" cy="310896"/>
          </a:xfrm>
          <a:prstGeom prst="roundRect">
            <a:avLst>
              <a:gd name="adj" fmla="val 50000"/>
            </a:avLst>
          </a:prstGeom>
          <a:solidFill>
            <a:srgbClr val="12314F"/>
          </a:solidFill>
          <a:ln/>
        </p:spPr>
      </p:sp>
      <p:sp>
        <p:nvSpPr>
          <p:cNvPr id="10" name="Text 8"/>
          <p:cNvSpPr/>
          <p:nvPr/>
        </p:nvSpPr>
        <p:spPr>
          <a:xfrm>
            <a:off x="2432304" y="4800600"/>
            <a:ext cx="13761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News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09644" y="4800600"/>
            <a:ext cx="896112" cy="310896"/>
          </a:xfrm>
          <a:prstGeom prst="roundRect">
            <a:avLst>
              <a:gd name="adj" fmla="val 50000"/>
            </a:avLst>
          </a:prstGeom>
          <a:solidFill>
            <a:srgbClr val="12314F"/>
          </a:solidFill>
          <a:ln/>
        </p:spPr>
      </p:sp>
      <p:sp>
        <p:nvSpPr>
          <p:cNvPr id="12" name="Text 10"/>
          <p:cNvSpPr/>
          <p:nvPr/>
        </p:nvSpPr>
        <p:spPr>
          <a:xfrm>
            <a:off x="4009644" y="4800600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106924" y="4800600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12314F"/>
          </a:solidFill>
          <a:ln/>
        </p:spPr>
      </p:sp>
      <p:sp>
        <p:nvSpPr>
          <p:cNvPr id="14" name="Text 12"/>
          <p:cNvSpPr/>
          <p:nvPr/>
        </p:nvSpPr>
        <p:spPr>
          <a:xfrm>
            <a:off x="5106924" y="480060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answers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66928" y="5989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July 2026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38367" y="5989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finding is evidenced and independently verifiable.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CREDIBILITY FIRST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read this report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fact-based audit, not a sales flyer. Every finding carries a confidence label and a one-line way to check it yourself. No invented numbers.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468880"/>
            <a:ext cx="2558720" cy="2468880"/>
          </a:xfrm>
          <a:prstGeom prst="roundRect">
            <a:avLst>
              <a:gd name="adj" fmla="val 2963"/>
            </a:avLst>
          </a:prstGeom>
          <a:solidFill>
            <a:srgbClr val="F1F5F9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B8C4D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724912"/>
            <a:ext cx="310896" cy="31089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7" name="Text 5"/>
          <p:cNvSpPr/>
          <p:nvPr/>
        </p:nvSpPr>
        <p:spPr>
          <a:xfrm>
            <a:off x="1225296" y="2706624"/>
            <a:ext cx="182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3291840"/>
            <a:ext cx="20466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observed it directly on the live page or search result. Quote or screenshot provided.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99968" y="2468880"/>
            <a:ext cx="2558720" cy="2468880"/>
          </a:xfrm>
          <a:prstGeom prst="roundRect">
            <a:avLst>
              <a:gd name="adj" fmla="val 2963"/>
            </a:avLst>
          </a:prstGeom>
          <a:solidFill>
            <a:srgbClr val="F1F5F9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B8C4D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6000" y="2724912"/>
            <a:ext cx="310896" cy="310896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1" name="Text 9"/>
          <p:cNvSpPr/>
          <p:nvPr/>
        </p:nvSpPr>
        <p:spPr>
          <a:xfrm>
            <a:off x="4058336" y="2706624"/>
            <a:ext cx="182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656000" y="3291840"/>
            <a:ext cx="20466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against competitors, drawn from a named public source.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33008" y="2468880"/>
            <a:ext cx="2558720" cy="2468880"/>
          </a:xfrm>
          <a:prstGeom prst="roundRect">
            <a:avLst>
              <a:gd name="adj" fmla="val 2963"/>
            </a:avLst>
          </a:prstGeom>
          <a:solidFill>
            <a:srgbClr val="F1F5F9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B8C4D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89040" y="2724912"/>
            <a:ext cx="310896" cy="310896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5" name="Text 13"/>
          <p:cNvSpPr/>
          <p:nvPr/>
        </p:nvSpPr>
        <p:spPr>
          <a:xfrm>
            <a:off x="6891376" y="2706624"/>
            <a:ext cx="182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89040" y="3291840"/>
            <a:ext cx="20466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Directional; method stated. Confirm with the named live tool.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066047" y="2468880"/>
            <a:ext cx="2558720" cy="2468880"/>
          </a:xfrm>
          <a:prstGeom prst="roundRect">
            <a:avLst>
              <a:gd name="adj" fmla="val 2963"/>
            </a:avLst>
          </a:prstGeom>
          <a:solidFill>
            <a:srgbClr val="F1F5F9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B8C4D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322079" y="2724912"/>
            <a:ext cx="310896" cy="310896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19" name="Text 17"/>
          <p:cNvSpPr/>
          <p:nvPr/>
        </p:nvSpPr>
        <p:spPr>
          <a:xfrm>
            <a:off x="9724415" y="2706624"/>
            <a:ext cx="182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322079" y="3291840"/>
            <a:ext cx="20466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professional opinion or proposed fix.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66928" y="521208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this pass: live page fetch, Google search (site: + category queries), public company databases. ESTIMATED items are confirmed with a live crawler / Ahrefs in a follow-up.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Quilzy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SEO/GEO Visibility Audit   ·   Confidential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418527" y="64739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Qoruz  ·  14 July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 STAND TODAY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Visibility scorecard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2558720" cy="2743200"/>
          </a:xfrm>
          <a:prstGeom prst="roundRect">
            <a:avLst>
              <a:gd name="adj" fmla="val 3216"/>
            </a:avLst>
          </a:prstGeom>
          <a:solidFill>
            <a:srgbClr val="0B1220"/>
          </a:solidFill>
          <a:ln/>
          <a:effectLst>
            <a:outerShdw sx="100000" sy="100000" kx="0" ky="0" algn="bl" rotWithShape="0" blurRad="88900" dist="38100" dir="5400000">
              <a:srgbClr val="9FB0C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95528" y="2084832"/>
            <a:ext cx="210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68096" y="2514600"/>
            <a:ext cx="2192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</a:t>
            </a:r>
            <a:pPr indent="0" marL="0">
              <a:buNone/>
            </a:pPr>
            <a:r>
              <a:rPr lang="en-US" sz="1800" dirty="0">
                <a:solidFill>
                  <a:srgbClr val="9FB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/100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795528" y="3703320"/>
            <a:ext cx="210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a strong SEO + AI-citation performer. The gap is share of voice, not presence.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99968" y="1874520"/>
            <a:ext cx="2558720" cy="2743200"/>
          </a:xfrm>
          <a:prstGeom prst="roundRect">
            <a:avLst>
              <a:gd name="adj" fmla="val 3216"/>
            </a:avLst>
          </a:prstGeom>
          <a:solidFill>
            <a:srgbClr val="F1F5F9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38100" dir="5400000">
              <a:srgbClr val="9FB0C0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28568" y="2084832"/>
            <a:ext cx="210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01136" y="2514600"/>
            <a:ext cx="2192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</a:t>
            </a:r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/100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3628568" y="3703320"/>
            <a:ext cx="210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· AS 39 · 11.4K keywords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33008" y="1874520"/>
            <a:ext cx="2558720" cy="2743200"/>
          </a:xfrm>
          <a:prstGeom prst="roundRect">
            <a:avLst>
              <a:gd name="adj" fmla="val 3216"/>
            </a:avLst>
          </a:prstGeom>
          <a:solidFill>
            <a:srgbClr val="F1F5F9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38100" dir="5400000">
              <a:srgbClr val="9FB0C0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61608" y="2084832"/>
            <a:ext cx="210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34176" y="2514600"/>
            <a:ext cx="2192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</a:t>
            </a:r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/100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6461608" y="3703320"/>
            <a:ext cx="210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Cited, but out-shared (score 19)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066047" y="1874520"/>
            <a:ext cx="2558720" cy="2743200"/>
          </a:xfrm>
          <a:prstGeom prst="roundRect">
            <a:avLst>
              <a:gd name="adj" fmla="val 3216"/>
            </a:avLst>
          </a:prstGeom>
          <a:solidFill>
            <a:srgbClr val="F1F5F9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38100" dir="5400000">
              <a:srgbClr val="9FB0C0">
                <a:alpha val="4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94647" y="2084832"/>
            <a:ext cx="210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BACKLINKS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267215" y="2514600"/>
            <a:ext cx="2192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</a:t>
            </a:r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/100</a:t>
            </a:r>
            <a:endParaRPr lang="en-US" sz="6000" dirty="0"/>
          </a:p>
        </p:txBody>
      </p:sp>
      <p:sp>
        <p:nvSpPr>
          <p:cNvPr id="19" name="Text 17"/>
          <p:cNvSpPr/>
          <p:nvPr/>
        </p:nvSpPr>
        <p:spPr>
          <a:xfrm>
            <a:off x="9294647" y="3703320"/>
            <a:ext cx="210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· 5.2K links, 1.6K RD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66928" y="4892040"/>
            <a:ext cx="11057839" cy="658368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" y="4892040"/>
            <a:ext cx="1050919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(Semrush, 14 Jul 2026):  AS 39  ·  87.6K organic traffic  ·  11.4K keywords  ·  1.6K ref. domains  ·  5.2K backlinks  ·  28% traffic share  ·  131 AI mentions / 2.5K cited pages (ChatGPT: 40 mentions, 2.2K cited).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Quilzy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SEO/GEO Visibility Audit   ·   Confidential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418527" y="64739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Qoruz  ·  14 July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 IN ONE 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1280160"/>
            <a:ext cx="11057839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Qoruz is already a strong performer — 87.6K organic visits, 2.5K pages cited by AI engines, and its own domain is the #1 source AI quotes. The gap isn't presence; it's share of voice: in a crowded field (HypeAuditor, Modash, Feedspot) rivals out-cite you, and a garbled hero + mixed entity signals blur the brand right where AI reads it.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388620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earned the citations. Now win the share.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66928" y="4709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WORKING — KEEP THESE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5074920"/>
            <a:ext cx="3503981" cy="310896"/>
          </a:xfrm>
          <a:prstGeom prst="roundRect">
            <a:avLst>
              <a:gd name="adj" fmla="val 50000"/>
            </a:avLst>
          </a:prstGeom>
          <a:solidFill>
            <a:srgbClr val="12314F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5074920"/>
            <a:ext cx="350398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39 · 11.4K keywords · 28% share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72077" y="5074920"/>
            <a:ext cx="4310482" cy="310896"/>
          </a:xfrm>
          <a:prstGeom prst="roundRect">
            <a:avLst>
              <a:gd name="adj" fmla="val 50000"/>
            </a:avLst>
          </a:prstGeom>
          <a:solidFill>
            <a:srgbClr val="12314F"/>
          </a:solidFill>
          <a:ln/>
        </p:spPr>
      </p:sp>
      <p:sp>
        <p:nvSpPr>
          <p:cNvPr id="9" name="Text 7"/>
          <p:cNvSpPr/>
          <p:nvPr/>
        </p:nvSpPr>
        <p:spPr>
          <a:xfrm>
            <a:off x="4272077" y="5074920"/>
            <a:ext cx="43104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131 AI mentions / 2.5K cited (ChatGPT 2.2K)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783726" y="5074920"/>
            <a:ext cx="4310482" cy="310896"/>
          </a:xfrm>
          <a:prstGeom prst="roundRect">
            <a:avLst>
              <a:gd name="adj" fmla="val 50000"/>
            </a:avLst>
          </a:prstGeom>
          <a:solidFill>
            <a:srgbClr val="12314F"/>
          </a:solidFill>
          <a:ln/>
        </p:spPr>
      </p:sp>
      <p:sp>
        <p:nvSpPr>
          <p:cNvPr id="11" name="Text 9"/>
          <p:cNvSpPr/>
          <p:nvPr/>
        </p:nvSpPr>
        <p:spPr>
          <a:xfrm>
            <a:off x="8783726" y="5074920"/>
            <a:ext cx="43104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testimonials, G2 4.5, enterprise logos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Quilzy</a:t>
            </a:r>
            <a:pPr algn="l" indent="0" marL="0">
              <a:buNone/>
            </a:pPr>
            <a:r>
              <a:rPr lang="en-US" sz="900" dirty="0">
                <a:solidFill>
                  <a:srgbClr val="8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SEO/GEO Visibility Audit   ·   Confidential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418527" y="64739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Qoruz  ·  14 July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YOU CAN CHECK YOURSELF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findings you can verify in 60 seconds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3503066" cy="3703320"/>
          </a:xfrm>
          <a:prstGeom prst="roundRect">
            <a:avLst>
              <a:gd name="adj" fmla="val 208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38100" dir="5400000">
              <a:srgbClr val="B8C4D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84832"/>
            <a:ext cx="566928" cy="566928"/>
          </a:xfrm>
          <a:prstGeom prst="ellipse">
            <a:avLst/>
          </a:prstGeom>
          <a:solidFill>
            <a:srgbClr val="0B122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84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652674" y="219456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/>
        </p:spPr>
      </p:sp>
      <p:sp>
        <p:nvSpPr>
          <p:cNvPr id="8" name="Text 6"/>
          <p:cNvSpPr/>
          <p:nvPr/>
        </p:nvSpPr>
        <p:spPr>
          <a:xfrm>
            <a:off x="2652674" y="21945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834640"/>
            <a:ext cx="299100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Garbled “Qoruz AI” hero text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3657600"/>
            <a:ext cx="299100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H1 &amp; section headers render “Qoruz AI” repeated ~8× (a client-side animation dumped into the DOM) — a messy heading right where AI reads your brand.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44314" y="1828800"/>
            <a:ext cx="3503066" cy="3703320"/>
          </a:xfrm>
          <a:prstGeom prst="roundRect">
            <a:avLst>
              <a:gd name="adj" fmla="val 208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38100" dir="5400000">
              <a:srgbClr val="B8C4D0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00346" y="2084832"/>
            <a:ext cx="566928" cy="566928"/>
          </a:xfrm>
          <a:prstGeom prst="ellipse">
            <a:avLst/>
          </a:prstGeom>
          <a:solidFill>
            <a:srgbClr val="0B1220"/>
          </a:solidFill>
          <a:ln/>
        </p:spPr>
      </p:sp>
      <p:sp>
        <p:nvSpPr>
          <p:cNvPr id="13" name="Text 11"/>
          <p:cNvSpPr/>
          <p:nvPr/>
        </p:nvSpPr>
        <p:spPr>
          <a:xfrm>
            <a:off x="4600346" y="2084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430061" y="219456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/>
        </p:spPr>
      </p:sp>
      <p:sp>
        <p:nvSpPr>
          <p:cNvPr id="15" name="Text 13"/>
          <p:cNvSpPr/>
          <p:nvPr/>
        </p:nvSpPr>
        <p:spPr>
          <a:xfrm>
            <a:off x="6430061" y="21945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00346" y="2834640"/>
            <a:ext cx="299100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identities for one company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00346" y="3657600"/>
            <a:ext cx="299100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“Qoruz”, legal entity “Datrux Systems Pvt Ltd”, contact “hi@terareach.com”; footer says Gurgaon, profiles say Bengaluru.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21701" y="1828800"/>
            <a:ext cx="3503066" cy="3703320"/>
          </a:xfrm>
          <a:prstGeom prst="roundRect">
            <a:avLst>
              <a:gd name="adj" fmla="val 208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38100" dir="5400000">
              <a:srgbClr val="B8C4D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77733" y="2084832"/>
            <a:ext cx="566928" cy="566928"/>
          </a:xfrm>
          <a:prstGeom prst="ellipse">
            <a:avLst/>
          </a:prstGeom>
          <a:solidFill>
            <a:srgbClr val="0B1220"/>
          </a:solidFill>
          <a:ln/>
        </p:spPr>
      </p:sp>
      <p:sp>
        <p:nvSpPr>
          <p:cNvPr id="20" name="Text 18"/>
          <p:cNvSpPr/>
          <p:nvPr/>
        </p:nvSpPr>
        <p:spPr>
          <a:xfrm>
            <a:off x="8377733" y="2084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10207447" y="219456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/>
        </p:spPr>
      </p:sp>
      <p:sp>
        <p:nvSpPr>
          <p:cNvPr id="22" name="Text 20"/>
          <p:cNvSpPr/>
          <p:nvPr/>
        </p:nvSpPr>
        <p:spPr>
          <a:xfrm>
            <a:off x="10207447" y="21945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377733" y="2834640"/>
            <a:ext cx="299100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Cited heavily — but out-shared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377733" y="3657600"/>
            <a:ext cx="299100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131 AI mentions &amp; 2.5K cited pages, yet an AI Visibility share score of just 19 — rivals capture more of the answer. (Semrush)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Quilzy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SEO/GEO Visibility Audit   ·   Confidential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418527" y="64739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Qoruz  ·  14 July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/ AI-CITATION  ·  70/100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You're cited across AI — but out-shared in a crowded field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45920"/>
          <a:ext cx="11057839" cy="914400"/>
        </p:xfrm>
        <a:graphic>
          <a:graphicData uri="http://schemas.openxmlformats.org/drawingml/2006/table">
            <a:tbl>
              <a:tblPr/>
              <a:tblGrid>
                <a:gridCol w="4297680"/>
                <a:gridCol w="1463040"/>
                <a:gridCol w="3931920"/>
                <a:gridCol w="13716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Buyer prompt (re-run to verify)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Qoruz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AI names instead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“best influencer marketing platform India”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Modash, Grynow, Winkl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“best influencer marketing platform” (global)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CONTESTED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HypeAuditor, Upfluence, Modash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“influencer platform for agencies”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CONTESTED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Upfluence, CreatorIQ, HypeAuditor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ChatGPT citations of qoruz.com (Semrush)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mentions · 2.2K cited pages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4343400"/>
            <a:ext cx="11057839" cy="1051560"/>
          </a:xfrm>
          <a:prstGeom prst="roundRect">
            <a:avLst>
              <a:gd name="adj" fmla="val 6957"/>
            </a:avLst>
          </a:prstGeom>
          <a:solidFill>
            <a:srgbClr val="CFFAFE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1248" y="4343400"/>
            <a:ext cx="1050919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costs:  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in the AI answer — but as one of several. Every point of share you don't hold is a buyer whose shortlist is led by HypeAuditor or Modash instead of Qoruz. Share of voice, not presence, is the battleground now.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Quilzy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SEO/GEO Visibility Audit   ·   Confidential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418527" y="64739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Qoruz  ·  14 July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78/100  ·  BACKLINKS 68/100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capping your share of voice</a:t>
            </a:r>
            <a:endParaRPr lang="en-US" sz="2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00200"/>
          <a:ext cx="11057839" cy="914400"/>
        </p:xfrm>
        <a:graphic>
          <a:graphicData uri="http://schemas.openxmlformats.org/drawingml/2006/table">
            <a:tbl>
              <a:tblPr/>
              <a:tblGrid>
                <a:gridCol w="4480560"/>
                <a:gridCol w="3840480"/>
                <a:gridCol w="868680"/>
                <a:gridCol w="187452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it's costing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Garbled “Qoruz AI” hero heading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Messy H1 dilutes topic + entity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A58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Fragmented entity (Qoruz / Datrux / Terareach)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can't cleanly resolve who you are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A58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Thin schema (no Review / SoftwareApp / FAQ)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Missed rich results + weaker AI anchor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A58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share of voice low (score 19) despite heavy citation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Rivals out-share you in the answer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not fully structured for AI citation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 for Google; not tuned to win the quote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4892040"/>
            <a:ext cx="11057839" cy="9144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1248" y="4892040"/>
            <a:ext cx="1050919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Backlinks (measured): healthy — 5.2K backlinks across 1.6K referring domains, AS 39, 28% traffic share. Your own site is the #1 AI-cited source (Instagram, Reddit follow). The play is converting this authority into a larger AI share of voice — not building it from scratch.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Quilzy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SEO/GEO Visibility Audit   ·   Confidential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418527" y="64739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Qoruz  ·  14 July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QUILZY FIXES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found on every surface buyers search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536192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Quilzy is a discoverability platform: one hosted, AI-optimized newsroom on your own domain that gets your content cited everywhere people search — including AI answers.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286000"/>
            <a:ext cx="2558720" cy="3063240"/>
          </a:xfrm>
          <a:prstGeom prst="roundRect">
            <a:avLst>
              <a:gd name="adj" fmla="val 3216"/>
            </a:avLst>
          </a:prstGeom>
          <a:solidFill>
            <a:srgbClr val="F1F5F9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B8C4D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542032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542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154680"/>
            <a:ext cx="2046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engines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3840480"/>
            <a:ext cx="20466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 your Google lead with schema-rich, fast pages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399968" y="2286000"/>
            <a:ext cx="2558720" cy="3063240"/>
          </a:xfrm>
          <a:prstGeom prst="roundRect">
            <a:avLst>
              <a:gd name="adj" fmla="val 3216"/>
            </a:avLst>
          </a:prstGeom>
          <a:solidFill>
            <a:srgbClr val="0B1220"/>
          </a:solidFill>
          <a:ln/>
          <a:effectLst>
            <a:outerShdw sx="100000" sy="100000" kx="0" ky="0" algn="bl" rotWithShape="0" blurRad="76200" dist="25400" dir="5400000">
              <a:srgbClr val="B8C4D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6000" y="2542032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2" name="Text 10"/>
          <p:cNvSpPr/>
          <p:nvPr/>
        </p:nvSpPr>
        <p:spPr>
          <a:xfrm>
            <a:off x="3656000" y="2542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56000" y="3154680"/>
            <a:ext cx="2046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answers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656000" y="3840480"/>
            <a:ext cx="20466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cited by ChatGPT, Claude &amp; Perplexity — globally, not just India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33008" y="2286000"/>
            <a:ext cx="2558720" cy="3063240"/>
          </a:xfrm>
          <a:prstGeom prst="roundRect">
            <a:avLst>
              <a:gd name="adj" fmla="val 3216"/>
            </a:avLst>
          </a:prstGeom>
          <a:solidFill>
            <a:srgbClr val="F1F5F9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B8C4D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89040" y="2542032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7" name="Text 15"/>
          <p:cNvSpPr/>
          <p:nvPr/>
        </p:nvSpPr>
        <p:spPr>
          <a:xfrm>
            <a:off x="6489040" y="2542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89040" y="3154680"/>
            <a:ext cx="2046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News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89040" y="3840480"/>
            <a:ext cx="20466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Qualify as a newsroom for News &amp; Top Stories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066047" y="2286000"/>
            <a:ext cx="2558720" cy="3063240"/>
          </a:xfrm>
          <a:prstGeom prst="roundRect">
            <a:avLst>
              <a:gd name="adj" fmla="val 3216"/>
            </a:avLst>
          </a:prstGeom>
          <a:solidFill>
            <a:srgbClr val="F1F5F9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B8C4D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322079" y="2542032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22" name="Text 20"/>
          <p:cNvSpPr/>
          <p:nvPr/>
        </p:nvSpPr>
        <p:spPr>
          <a:xfrm>
            <a:off x="9322079" y="2542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322079" y="3154680"/>
            <a:ext cx="2046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322079" y="3840480"/>
            <a:ext cx="20466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Auto-repurpose every post to your channels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66928" y="553212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hosted newsroom on your own domain — not another tool bolted on.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Quilzy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SEO/GEO Visibility Audit   ·   Confidential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418527" y="64739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Qoruz  ·  14 July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Quilzy turns fixes into impressions</a:t>
            </a:r>
            <a:endParaRPr lang="en-US" sz="27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91640"/>
          <a:ext cx="11057839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5120640"/>
                <a:gridCol w="2926080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gap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Quilzy does automatically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Impression surface it opens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Out-shared on global / agency queries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AI-search-readable structure + JSON-LD so engines quote you more often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share of voice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Fragmented entity signals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 per-post Organization + Product schema stating who Qoruz 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entity clarity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AFE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Thin schema (no Review/FAQ)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Automatic JSON-LD incl. Review/AggregateRating + FAQ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Rich results in Google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News / PR surface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News-ready newsroom (schema, RSS, sitemaps)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News &amp; Top Stories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AFE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Indexing lag on new posts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IndexNow pings engines the moment you publish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Faster, fuller indexation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Heavy pages / CWV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90+ Lighthouse, &lt;1s paint, global CDN — built 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Ranking factor on all four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AF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58064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promise:  </a:t>
            </a:r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Quilzy doesn't promise a rank. It removes every technical reason a page fails to get found, then reports impressions + AI-citation share as the headline metrics.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Quilzy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SEO/GEO Visibility Audit   ·   Confidential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418527" y="64739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Qoruz  ·  14 July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GAP, NAMED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your competitors are mentioned — and you're not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00200"/>
          <a:ext cx="11057839" cy="914400"/>
        </p:xfrm>
        <a:graphic>
          <a:graphicData uri="http://schemas.openxmlformats.org/drawingml/2006/table">
            <a:tbl>
              <a:tblPr/>
              <a:tblGrid>
                <a:gridCol w="5577840"/>
                <a:gridCol w="2651760"/>
                <a:gridCol w="2825496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AI &amp; buyers trust (query it ranks for)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Who's listed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Qoruz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“best platform” lists — Influencer Marketing Hub, Business of Apps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GRIN, Upfluence, CreatorIQ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G2 “8 Best Influencer Marketing Software” (editorial pick)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GRIN, Sprout, CreatorIQ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Profile only — not ranked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Capterra “Best Influencer Marketing Software 2026”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GRIN, Upfluence, Meltwater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 2, not top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Affiliate roundups — Influee, Guideflow, iQfluence, Brandwatch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Upfluence, HypeAuditor, GRIN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“Qoruz alternatives” pages — Influencer Hero, G2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Competitors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Ranks for your brand → funnels away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5074920"/>
            <a:ext cx="11057839" cy="868680"/>
          </a:xfrm>
          <a:prstGeom prst="roundRect">
            <a:avLst>
              <a:gd name="adj" fmla="val 8421"/>
            </a:avLst>
          </a:prstGeom>
          <a:solidFill>
            <a:srgbClr val="CFFAFE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1248" y="5074920"/>
            <a:ext cx="1050919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third-party “best platform” pages are what AI leans on — and they're dominated by rivals. Qoruz is cited via its own site, but winning placement here is how you raise share of voice.  (Verify: run each query, open each page.)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Quilzy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SEO/GEO Visibility Audit   ·   Confidential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418527" y="64739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Qoruz  ·  14 July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GETS YOU PRESENT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content that closes the gap</a:t>
            </a:r>
            <a:endParaRPr lang="en-US" sz="27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45920"/>
          <a:ext cx="11057839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2194560"/>
                <a:gridCol w="3831336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/ play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runs 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opens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Comparison + “alternative” pages (Qoruz vs Upfluence / GRIN; best HypeAuditor alternatives)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Owned — Quilzy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Captures rival + brand demand; AI-citable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 data reports (creator rates, engagement benchmarks — you have 4L creators)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Owned — Quilzy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 AI-citation magnet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+ vertical “best platform” roundups (D2C, beauty, agencies)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Owned — Quilzy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AI answers + long-tail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FAQ-schema explainers for “how to / what is” queries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Owned — Quilzy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AI Overviews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Placement in third-party listicles (IMH, Business of Apps)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PR — complementary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AI pulls “best-of” lists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G2 / Capterra reviews + category badges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Reviews — complementary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 AI-citation 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58064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split:  </a:t>
            </a:r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Quilzy owns the AI-optimized, schema-rich content on qoruz.com — the citations you control. Listicle placement + G2/Capterra are complementary PR we flag alongside.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Quilzy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SEO/GEO Visibility Audit   ·   Confidential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418527" y="64739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Qoruz  ·  14 July 2026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DIFFERENTIATOR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Quilzy, not another plugin or agency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517904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for every surface people search — done for you, on your own domain.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057400"/>
          <a:ext cx="11057839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4297680"/>
                <a:gridCol w="4297680"/>
              </a:tblGrid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7D6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usual way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Quilzy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Technical SEO / GEO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25+ plugins to install, update &amp; secure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in — schema, sitemaps, indexing, links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AFE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Indexing speed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 days for a crawler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IndexNow pings engines the moment you publish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AFE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+ News surfaces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Separate setup most teams never 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AI-search-ready + Google News schema, automatic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AFE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Inconsistent; stalls without a team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agents draft search-first posts on cadence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AFE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Plugins slow the site down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90+ Lighthouse, &lt;1s paint, global CDN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AFE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Ownership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Rented equity on a third-party subdomain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Hosted on your own domain — you keep the equity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AFE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Quilzy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SEO/GEO Visibility Audit   ·   Confidential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418527" y="64739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Qoruz  ·  14 July 2026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IT COMPOUNDS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1143000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Sheetwa</a:t>
            </a:r>
            <a:pPr indent="0" marL="0">
              <a:buNone/>
            </a:pPr>
            <a:r>
              <a:rPr lang="en-US" sz="3000" b="1" dirty="0">
                <a:solidFill>
                  <a:srgbClr val="9FB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one Quilzy content engine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2286000"/>
            <a:ext cx="5346040" cy="2286000"/>
          </a:xfrm>
          <a:prstGeom prst="roundRect">
            <a:avLst>
              <a:gd name="adj" fmla="val 4800"/>
            </a:avLst>
          </a:prstGeom>
          <a:solidFill>
            <a:srgbClr val="0C2A4A"/>
          </a:solidFill>
          <a:ln w="12700">
            <a:solidFill>
              <a:srgbClr val="17456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2468880"/>
            <a:ext cx="479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3M+</a:t>
            </a:r>
            <a:endParaRPr lang="en-US" sz="8400" dirty="0"/>
          </a:p>
        </p:txBody>
      </p:sp>
      <p:sp>
        <p:nvSpPr>
          <p:cNvPr id="6" name="Text 4"/>
          <p:cNvSpPr/>
          <p:nvPr/>
        </p:nvSpPr>
        <p:spPr>
          <a:xfrm>
            <a:off x="886968" y="3703320"/>
            <a:ext cx="470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AI-ENGINE IMPRESSIONS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78728" y="2286000"/>
            <a:ext cx="5346040" cy="2286000"/>
          </a:xfrm>
          <a:prstGeom prst="roundRect">
            <a:avLst>
              <a:gd name="adj" fmla="val 4800"/>
            </a:avLst>
          </a:prstGeom>
          <a:solidFill>
            <a:srgbClr val="0C2A4A"/>
          </a:solidFill>
          <a:ln w="12700">
            <a:solidFill>
              <a:srgbClr val="1745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53048" y="2468880"/>
            <a:ext cx="479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4M+</a:t>
            </a:r>
            <a:endParaRPr lang="en-US" sz="8400" dirty="0"/>
          </a:p>
        </p:txBody>
      </p:sp>
      <p:sp>
        <p:nvSpPr>
          <p:cNvPr id="9" name="Text 7"/>
          <p:cNvSpPr/>
          <p:nvPr/>
        </p:nvSpPr>
        <p:spPr>
          <a:xfrm>
            <a:off x="6598768" y="3703320"/>
            <a:ext cx="470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IMPRESSIONS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4892040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Quilzy-hosted content engine — compounding impressions across Google and AI answers, from a single blog on the client's own domain.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66928" y="5623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result per Quilzy reporting.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Quilzy</a:t>
            </a:r>
            <a:pPr algn="l" indent="0" marL="0">
              <a:buNone/>
            </a:pPr>
            <a:r>
              <a:rPr lang="en-US" sz="900" dirty="0">
                <a:solidFill>
                  <a:srgbClr val="8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SEO/GEO Visibility Audit   ·   Confidential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418527" y="64739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Qoruz  ·  14 July 2026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— SIZED TO YOUR BASELINE, NOT A GUESS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impact you can expect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965960"/>
            <a:ext cx="3383280" cy="2697480"/>
          </a:xfrm>
          <a:prstGeom prst="roundRect">
            <a:avLst>
              <a:gd name="adj" fmla="val 3390"/>
            </a:avLst>
          </a:prstGeom>
          <a:solidFill>
            <a:srgbClr val="F1F5F9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B8C4D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21945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670048" y="228600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E8EEF6"/>
          </a:solidFill>
          <a:ln/>
        </p:spPr>
      </p:sp>
      <p:sp>
        <p:nvSpPr>
          <p:cNvPr id="7" name="Text 5"/>
          <p:cNvSpPr/>
          <p:nvPr/>
        </p:nvSpPr>
        <p:spPr>
          <a:xfrm>
            <a:off x="2670048" y="22860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41248" y="2880360"/>
            <a:ext cx="2834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heavily (2.5K pages) but AI share of voice is low (score 19) — out-shared by rivals globally and on agency queries.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950208" y="1965960"/>
            <a:ext cx="4540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404208" y="1965960"/>
            <a:ext cx="3383280" cy="2697480"/>
          </a:xfrm>
          <a:prstGeom prst="roundRect">
            <a:avLst>
              <a:gd name="adj" fmla="val 3390"/>
            </a:avLst>
          </a:prstGeom>
          <a:solidFill>
            <a:srgbClr val="CFFAFE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76200" dist="25400" dir="5400000">
              <a:srgbClr val="B8C4D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78528" y="21945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 months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507328" y="228600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507328" y="22860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78528" y="2880360"/>
            <a:ext cx="2834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+ data content live and cited; entity signals cleaned; your share of the answer starts rising on contested queries.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787488" y="1965960"/>
            <a:ext cx="4540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8241487" y="1965960"/>
            <a:ext cx="3383280" cy="2697480"/>
          </a:xfrm>
          <a:prstGeom prst="roundRect">
            <a:avLst>
              <a:gd name="adj" fmla="val 3390"/>
            </a:avLst>
          </a:prstGeom>
          <a:solidFill>
            <a:srgbClr val="0B1220"/>
          </a:solidFill>
          <a:ln/>
          <a:effectLst>
            <a:outerShdw sx="100000" sy="100000" kx="0" ky="0" algn="bl" rotWithShape="0" blurRad="76200" dist="25400" dir="5400000">
              <a:srgbClr val="B8C4D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515807" y="21945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 months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10344607" y="228600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</p:sp>
      <p:sp>
        <p:nvSpPr>
          <p:cNvPr id="19" name="Text 17"/>
          <p:cNvSpPr/>
          <p:nvPr/>
        </p:nvSpPr>
        <p:spPr>
          <a:xfrm>
            <a:off x="10344607" y="22860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515807" y="2880360"/>
            <a:ext cx="2834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more often — and earlier — in AI answers where HypeAuditor / Modash lead today; share of voice climbing month over month.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66928" y="493776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impact: from “cited but out-shared” to leading the answer in your category — steady, compounding share growth.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566928" y="5577840"/>
            <a:ext cx="11057839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" y="5577840"/>
            <a:ext cx="105091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size it: baseline your real Search Console + AI-citation position in week 1, apply a conservative ramp, and re-forecast monthly against actuals — we commit to numbers only after the baseline, never before.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Quilzy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SEO/GEO Visibility Audit   ·   Confidential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418527" y="64739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Qoruz  ·  14 July 2026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SCOPE KEEPS IT CREDIBLE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Quilzy owns vs. what stays your side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5346040" cy="3566160"/>
          </a:xfrm>
          <a:prstGeom prst="roundRect">
            <a:avLst>
              <a:gd name="adj" fmla="val 2308"/>
            </a:avLst>
          </a:prstGeom>
          <a:solidFill>
            <a:srgbClr val="CFFAFE"/>
          </a:solidFill>
          <a:ln w="15875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2057400"/>
            <a:ext cx="479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QUILZY OWNS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41248" y="2395728"/>
            <a:ext cx="479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content &amp; discoverability engine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86968" y="2926080"/>
            <a:ext cx="4705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AI-optimized newsroom on qoruz.com (/news or /blog)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Per-post JSON-LD: Organization, Product, Review, FAQ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News eligibility + AI-search readiness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IndexNow indexing + social repurposing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78728" y="1828800"/>
            <a:ext cx="5346040" cy="3566160"/>
          </a:xfrm>
          <a:prstGeom prst="roundRect">
            <a:avLst>
              <a:gd name="adj" fmla="val 2308"/>
            </a:avLst>
          </a:prstGeom>
          <a:solidFill>
            <a:srgbClr val="F1F5F9"/>
          </a:solidFill>
          <a:ln w="15875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53048" y="2057400"/>
            <a:ext cx="479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YOUR SIDE — WE FLAG, NOT HIDE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53048" y="2395728"/>
            <a:ext cx="479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site-hygiene fixes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98768" y="2926080"/>
            <a:ext cx="4705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→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garbled “Qoruz AI” hero animation (P1)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→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Unify entity: Qoruz / Datrux / Terareach + one city (P1)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→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Review / SoftwareApplication schema to product pages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Quilzy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SEO/GEO Visibility Audit   ·   Confidential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418527" y="64739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Qoruz  ·  14 July 2026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48495" y="-1188720"/>
            <a:ext cx="3657600" cy="3657600"/>
          </a:xfrm>
          <a:prstGeom prst="ellipse">
            <a:avLst/>
          </a:prstGeom>
          <a:solidFill>
            <a:srgbClr val="0C2A4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NEXT STEP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94484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the surface open in real time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2743200"/>
            <a:ext cx="92656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7-day Quilzy trial on qoruz.com/news — we stand up 3–5 AI-optimized posts targeting the global and agency queries where your AI-answer share is contested, add Organization/Product/Review schema, then baseline AI-citation share + impressions.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66928" y="4937760"/>
            <a:ext cx="2926080" cy="310896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493776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 7-day Quilzy trial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767328" y="493776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quilzy.com   ·   Free for 7 days · No credit card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Quilzy</a:t>
            </a:r>
            <a:pPr algn="l" indent="0" marL="0">
              <a:buNone/>
            </a:pPr>
            <a:r>
              <a:rPr lang="en-US" sz="900" dirty="0">
                <a:solidFill>
                  <a:srgbClr val="8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SEO/GEO Visibility Audit   ·   Confidential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418527" y="64739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Qoruz  ·  14 July 2026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INTERNAL USE — REUSE THIS DECK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Template guide: swap these for the next client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5212080" cy="658368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88366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name &amp; domain
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+ section headers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2633472"/>
            <a:ext cx="5212080" cy="658368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2688336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scores + verdict + bands
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3438144"/>
            <a:ext cx="5212080" cy="658368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349300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statement
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slide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4242816"/>
            <a:ext cx="5212080" cy="658368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42976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verify-in-60s findings
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slide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5047488"/>
            <a:ext cx="5212080" cy="658368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510235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prompts + who wins
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matrix (hero)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36208" y="1828800"/>
            <a:ext cx="5212080" cy="658368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64808" y="188366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+ backlink diagnosis
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slide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36208" y="2633472"/>
            <a:ext cx="5212080" cy="658368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64808" y="2688336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stats (client + impressions)
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slide — swap per pitch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36208" y="3438144"/>
            <a:ext cx="5212080" cy="658368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64808" y="349300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Quilzy outcome / how / differentiator
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as-is — rarely changes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36208" y="4242816"/>
            <a:ext cx="5212080" cy="658368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64808" y="42976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lists
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slide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36208" y="5047488"/>
            <a:ext cx="5212080" cy="658368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64808" y="510235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Next-step CTA
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 slide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66928" y="598932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Workflow: swap the client-specific slides, keep the confidence labels honest, and re-run the audit before each pitch so every claim stays verifiable.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Quilzy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SEO/GEO Visibility Audit   ·   Confidential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418527" y="64739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Qoruz  ·  14 July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2026-07-15T05:50:22Z</dcterms:created>
  <dcterms:modified xsi:type="dcterms:W3CDTF">2026-07-15T05:50:22Z</dcterms:modified>
</cp:coreProperties>
</file>